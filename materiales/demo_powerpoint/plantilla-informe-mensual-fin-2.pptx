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7" r:id="rId2"/>
    <p:sldId id="262" r:id="rId3"/>
    <p:sldId id="267" r:id="rId4"/>
    <p:sldId id="265" r:id="rId5"/>
    <p:sldId id="268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1"/>
    <p:restoredTop sz="94610"/>
  </p:normalViewPr>
  <p:slideViewPr>
    <p:cSldViewPr snapToGrid="0" snapToObjects="1">
      <p:cViewPr varScale="1">
        <p:scale>
          <a:sx n="132" d="100"/>
          <a:sy n="132" d="100"/>
        </p:scale>
        <p:origin x="176" y="7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s-ES"/>
  <c:roundedCorners val="1"/>
  <c:style val="2"/>
  <c:chart>
    <c:title>
      <c:tx>
        <c:rich>
          <a:bodyPr/>
          <a:lstStyle/>
          <a:p>
            <a:pPr>
              <a:defRPr sz="1400" b="1">
                <a:solidFill>
                  <a:srgbClr val="333333"/>
                </a:solidFill>
                <a:latin typeface="Arial"/>
              </a:defRPr>
            </a:pPr>
            <a:r>
              <a:rPr lang="es-ES" sz="1400" b="1" dirty="0">
                <a:solidFill>
                  <a:srgbClr val="333333"/>
                </a:solidFill>
                <a:latin typeface="Arial"/>
              </a:rPr>
              <a:t>Incidencias por Cliente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v>Órdenes</c:v>
          </c:tx>
          <c:spPr>
            <a:solidFill>
              <a:srgbClr val="7AB800"/>
            </a:solidFill>
            <a:ln>
              <a:noFill/>
            </a:ln>
          </c:spPr>
          <c:invertIfNegative val="1"/>
          <c:dLbls>
            <c:numFmt formatCode="0" sourceLinked="0"/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1200" b="1">
                    <a:solidFill>
                      <a:srgbClr val="333333"/>
                    </a:solidFill>
                    <a:latin typeface="Arial"/>
                  </a:defRPr>
                </a:pPr>
                <a:endParaRPr lang="es-E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6"/>
              <c:pt idx="0">
                <c:v>CCCB Barcelona</c:v>
              </c:pt>
              <c:pt idx="1">
                <c:v>Danone Parets</c:v>
              </c:pt>
              <c:pt idx="2">
                <c:v>UAB Bellaterra</c:v>
              </c:pt>
              <c:pt idx="3">
                <c:v>H. Germans Trias</c:v>
              </c:pt>
              <c:pt idx="4">
                <c:v>SEAT Martorell</c:v>
              </c:pt>
              <c:pt idx="5">
                <c:v>H. Vall d'Hebron</c:v>
              </c:pt>
            </c:strLit>
          </c:cat>
          <c:val>
            <c:numLit>
              <c:formatCode>General</c:formatCode>
              <c:ptCount val="6"/>
              <c:pt idx="0">
                <c:v>9</c:v>
              </c:pt>
              <c:pt idx="1">
                <c:v>14</c:v>
              </c:pt>
              <c:pt idx="2">
                <c:v>18</c:v>
              </c:pt>
              <c:pt idx="3">
                <c:v>22</c:v>
              </c:pt>
              <c:pt idx="4">
                <c:v>24</c:v>
              </c:pt>
              <c:pt idx="5">
                <c:v>30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F92B-2C42-8E60-CF2A37F73DF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"/>
        <c:axId val="2"/>
      </c:barChart>
      <c:catAx>
        <c:axId val="1"/>
        <c:scaling>
          <c:orientation val="minMax"/>
        </c:scaling>
        <c:delete val="0"/>
        <c:axPos val="l"/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 sz="1100">
                <a:solidFill>
                  <a:srgbClr val="666666"/>
                </a:solidFill>
                <a:latin typeface="Arial"/>
              </a:defRPr>
            </a:pPr>
            <a:endParaRPr lang="es-ES"/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"/>
        <c:crosses val="autoZero"/>
        <c:crossBetween val="between"/>
      </c:valAx>
    </c:plotArea>
    <c:plotVisOnly val="1"/>
    <c:dispBlanksAs val="zero"/>
    <c:showDLblsOverMax val="1"/>
  </c:char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s-ES"/>
  <c:roundedCorners val="1"/>
  <c:style val="2"/>
  <c:chart>
    <c:title>
      <c:tx>
        <c:rich>
          <a:bodyPr/>
          <a:lstStyle/>
          <a:p>
            <a:pPr>
              <a:defRPr sz="1400" b="1">
                <a:solidFill>
                  <a:srgbClr val="333333"/>
                </a:solidFill>
                <a:latin typeface="Arial"/>
              </a:defRPr>
            </a:pPr>
            <a:r>
              <a:rPr lang="es-ES" sz="1400" b="1" dirty="0">
                <a:solidFill>
                  <a:srgbClr val="333333"/>
                </a:solidFill>
                <a:latin typeface="Arial"/>
              </a:rPr>
              <a:t>Evolución Tiempo Respuesta (h)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v>Tiempo Medio (h)</c:v>
          </c:tx>
          <c:spPr>
            <a:ln w="28575">
              <a:solidFill>
                <a:srgbClr val="7AB800"/>
              </a:solidFill>
            </a:ln>
          </c:spPr>
          <c:marker>
            <c:symbol val="circle"/>
            <c:size val="8"/>
            <c:spPr>
              <a:solidFill>
                <a:srgbClr val="7AB800"/>
              </a:solidFill>
              <a:ln>
                <a:solidFill>
                  <a:srgbClr val="7AB800"/>
                </a:solidFill>
              </a:ln>
            </c:spPr>
          </c:marker>
          <c:dLbls>
            <c:numFmt formatCode="0.00" sourceLinked="0"/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1200" b="1">
                    <a:solidFill>
                      <a:srgbClr val="333333"/>
                    </a:solidFill>
                    <a:latin typeface="Arial"/>
                  </a:defRPr>
                </a:pPr>
                <a:endParaRPr lang="es-E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3"/>
              <c:pt idx="0">
                <c:v>Enero</c:v>
              </c:pt>
              <c:pt idx="1">
                <c:v>Febrero</c:v>
              </c:pt>
              <c:pt idx="2">
                <c:v>Marzo</c:v>
              </c:pt>
            </c:strLit>
          </c:cat>
          <c:val>
            <c:numLit>
              <c:formatCode>General</c:formatCode>
              <c:ptCount val="3"/>
              <c:pt idx="0">
                <c:v>2.63</c:v>
              </c:pt>
              <c:pt idx="1">
                <c:v>3.35</c:v>
              </c:pt>
              <c:pt idx="2">
                <c:v>2.8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0-206E-D84A-96F3-BB253201891C}"/>
            </c:ext>
          </c:extLst>
        </c:ser>
        <c:ser>
          <c:idx val="1"/>
          <c:order val="1"/>
          <c:tx>
            <c:v>Órdenes Totales</c:v>
          </c:tx>
          <c:spPr>
            <a:ln w="28575">
              <a:solidFill>
                <a:srgbClr val="4A8C00"/>
              </a:solidFill>
              <a:prstDash val="dash"/>
            </a:ln>
          </c:spPr>
          <c:marker>
            <c:symbol val="square"/>
            <c:size val="6"/>
            <c:spPr>
              <a:solidFill>
                <a:srgbClr val="4A8C00"/>
              </a:solidFill>
              <a:ln>
                <a:solidFill>
                  <a:srgbClr val="4A8C00"/>
                </a:solidFill>
              </a:ln>
            </c:spPr>
          </c:marker>
          <c:dLbls>
            <c:numFmt formatCode="0" sourceLinked="0"/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1200" b="1">
                    <a:solidFill>
                      <a:srgbClr val="4A8C00"/>
                    </a:solidFill>
                    <a:latin typeface="Arial"/>
                  </a:defRPr>
                </a:pPr>
                <a:endParaRPr lang="es-E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3"/>
              <c:pt idx="0">
                <c:v>Enero</c:v>
              </c:pt>
              <c:pt idx="1">
                <c:v>Febrero</c:v>
              </c:pt>
              <c:pt idx="2">
                <c:v>Marzo</c:v>
              </c:pt>
            </c:strLit>
          </c:cat>
          <c:val>
            <c:numLit>
              <c:formatCode>General</c:formatCode>
              <c:ptCount val="3"/>
              <c:pt idx="0">
                <c:v>42</c:v>
              </c:pt>
              <c:pt idx="1">
                <c:v>35</c:v>
              </c:pt>
              <c:pt idx="2">
                <c:v>40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1-206E-D84A-96F3-BB253201891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0"/>
        <c:axId val="20"/>
      </c:lineChart>
      <c:catAx>
        <c:axId val="10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 sz="1200">
                <a:solidFill>
                  <a:srgbClr val="666666"/>
                </a:solidFill>
                <a:latin typeface="Arial"/>
              </a:defRPr>
            </a:pPr>
            <a:endParaRPr lang="es-ES"/>
          </a:p>
        </c:txPr>
        <c:crossAx val="20"/>
        <c:crosses val="autoZero"/>
        <c:auto val="1"/>
        <c:lblAlgn val="ctr"/>
        <c:lblOffset val="100"/>
        <c:noMultiLvlLbl val="1"/>
      </c:catAx>
      <c:valAx>
        <c:axId val="20"/>
        <c:scaling>
          <c:orientation val="minMax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10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 sz="1100">
              <a:solidFill>
                <a:srgbClr val="666666"/>
              </a:solidFill>
              <a:latin typeface="Arial"/>
            </a:defRPr>
          </a:pPr>
          <a:endParaRPr lang="es-ES"/>
        </a:p>
      </c:txPr>
    </c:legend>
    <c:plotVisOnly val="1"/>
    <c:dispBlanksAs val="zero"/>
    <c:showDLblsOverMax val="1"/>
  </c:chart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395801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2.xml"/><Relationship Id="rId4" Type="http://schemas.openxmlformats.org/officeDocument/2006/relationships/chart" Target="../charts/char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" cy="5143500"/>
          </a:xfrm>
          <a:prstGeom prst="rect">
            <a:avLst/>
          </a:prstGeom>
          <a:solidFill>
            <a:srgbClr val="7AB800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3" name="Shape 1"/>
          <p:cNvSpPr/>
          <p:nvPr/>
        </p:nvSpPr>
        <p:spPr>
          <a:xfrm>
            <a:off x="548640" y="4663440"/>
            <a:ext cx="8595360" cy="45720"/>
          </a:xfrm>
          <a:prstGeom prst="rect">
            <a:avLst/>
          </a:prstGeom>
          <a:solidFill>
            <a:srgbClr val="7AB800"/>
          </a:solidFill>
          <a:ln/>
        </p:spPr>
        <p:txBody>
          <a:bodyPr/>
          <a:lstStyle/>
          <a:p>
            <a:endParaRPr lang="es-ES_tradnl"/>
          </a:p>
        </p:txBody>
      </p:sp>
      <p:pic>
        <p:nvPicPr>
          <p:cNvPr id="4" name="Image 0" descr="/Users/ironmac/Dev-local/formacion-gesinstal/docs/logo_geinst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65760"/>
            <a:ext cx="731520" cy="731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37360" y="36576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Informe mensual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1737360" y="9144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7AB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Departamento de Mantenimiento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737360" y="13716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 2026 · Enero – Marzo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77240" y="47091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Geinstal · Mantenimiento Integral e Instalaciones Electromecánicas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9239054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" cy="5143500"/>
          </a:xfrm>
          <a:prstGeom prst="rect">
            <a:avLst/>
          </a:prstGeom>
          <a:solidFill>
            <a:srgbClr val="7AB800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3" name="Shape 1"/>
          <p:cNvSpPr/>
          <p:nvPr/>
        </p:nvSpPr>
        <p:spPr>
          <a:xfrm>
            <a:off x="548640" y="4663440"/>
            <a:ext cx="8595360" cy="45720"/>
          </a:xfrm>
          <a:prstGeom prst="rect">
            <a:avLst/>
          </a:prstGeom>
          <a:solidFill>
            <a:srgbClr val="7AB800"/>
          </a:solidFill>
          <a:ln/>
        </p:spPr>
        <p:txBody>
          <a:bodyPr/>
          <a:lstStyle/>
          <a:p>
            <a:endParaRPr lang="es-ES_tradnl"/>
          </a:p>
        </p:txBody>
      </p:sp>
      <p:pic>
        <p:nvPicPr>
          <p:cNvPr id="4" name="Image 0" descr="/Users/ironmac/Dev-local/formacion-gesinstal/docs/logo_geinst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65760"/>
            <a:ext cx="731520" cy="731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37360" y="36576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Resumen Ejecutivo</a:t>
            </a:r>
          </a:p>
        </p:txBody>
      </p:sp>
      <p:sp>
        <p:nvSpPr>
          <p:cNvPr id="6" name="Text 3"/>
          <p:cNvSpPr/>
          <p:nvPr/>
        </p:nvSpPr>
        <p:spPr>
          <a:xfrm>
            <a:off x="1737360" y="9144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AB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KPIs Principales — Q1 2026</a:t>
            </a:r>
          </a:p>
        </p:txBody>
      </p:sp>
      <p:sp>
        <p:nvSpPr>
          <p:cNvPr id="8" name="Text 5"/>
          <p:cNvSpPr/>
          <p:nvPr/>
        </p:nvSpPr>
        <p:spPr>
          <a:xfrm>
            <a:off x="777240" y="47091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Geinstal · Mantenimiento Integral e Instalaciones Electromecánicas</a:t>
            </a:r>
            <a:endParaRPr lang="en-US" sz="900" dirty="0"/>
          </a:p>
        </p:txBody>
      </p:sp>
      <p:sp>
        <p:nvSpPr>
          <p:cNvPr id="7" name="Rectángulo redondeado 6">
            <a:extLst>
              <a:ext uri="{FF2B5EF4-FFF2-40B4-BE49-F238E27FC236}">
                <a16:creationId xmlns:a16="http://schemas.microsoft.com/office/drawing/2014/main" id="{41B61CEA-FF01-2C4E-B4F5-F8302FB478D6}"/>
              </a:ext>
            </a:extLst>
          </p:cNvPr>
          <p:cNvSpPr/>
          <p:nvPr/>
        </p:nvSpPr>
        <p:spPr>
          <a:xfrm>
            <a:off x="774700" y="1333500"/>
            <a:ext cx="2476500" cy="1460500"/>
          </a:xfrm>
          <a:prstGeom prst="roundRect">
            <a:avLst/>
          </a:prstGeom>
          <a:solidFill>
            <a:srgbClr val="F5F5F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_tradnl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5FBBC92B-4A29-A34B-87AD-464A92ED7B19}"/>
              </a:ext>
            </a:extLst>
          </p:cNvPr>
          <p:cNvSpPr/>
          <p:nvPr/>
        </p:nvSpPr>
        <p:spPr>
          <a:xfrm>
            <a:off x="774700" y="1333500"/>
            <a:ext cx="2476500" cy="50800"/>
          </a:xfrm>
          <a:prstGeom prst="rect">
            <a:avLst/>
          </a:prstGeom>
          <a:solidFill>
            <a:srgbClr val="7AB8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_tradnl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58686D41-8094-FC4B-A1AC-9AA245EFAE7A}"/>
              </a:ext>
            </a:extLst>
          </p:cNvPr>
          <p:cNvSpPr txBox="1"/>
          <p:nvPr/>
        </p:nvSpPr>
        <p:spPr>
          <a:xfrm>
            <a:off x="901700" y="1524000"/>
            <a:ext cx="22225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ES_tradnl" sz="2800" b="1">
                <a:solidFill>
                  <a:srgbClr val="7AB800"/>
                </a:solidFill>
                <a:latin typeface="Arial"/>
                <a:cs typeface="Arial"/>
              </a:rPr>
              <a:t>117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69F04C22-F384-6546-B6F3-86546C32CDBA}"/>
              </a:ext>
            </a:extLst>
          </p:cNvPr>
          <p:cNvSpPr txBox="1"/>
          <p:nvPr/>
        </p:nvSpPr>
        <p:spPr>
          <a:xfrm>
            <a:off x="901700" y="2197100"/>
            <a:ext cx="22225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ES_tradnl" sz="1400">
                <a:solidFill>
                  <a:srgbClr val="666666"/>
                </a:solidFill>
                <a:latin typeface="Arial"/>
                <a:cs typeface="Arial"/>
              </a:rPr>
              <a:t>Órdenes de Trabajo</a:t>
            </a:r>
          </a:p>
        </p:txBody>
      </p:sp>
      <p:sp>
        <p:nvSpPr>
          <p:cNvPr id="12" name="Rectángulo redondeado 11">
            <a:extLst>
              <a:ext uri="{FF2B5EF4-FFF2-40B4-BE49-F238E27FC236}">
                <a16:creationId xmlns:a16="http://schemas.microsoft.com/office/drawing/2014/main" id="{0BCA26B9-C34B-AD45-B848-7BB5FECA0549}"/>
              </a:ext>
            </a:extLst>
          </p:cNvPr>
          <p:cNvSpPr/>
          <p:nvPr/>
        </p:nvSpPr>
        <p:spPr>
          <a:xfrm>
            <a:off x="3403600" y="1333500"/>
            <a:ext cx="2476500" cy="1460500"/>
          </a:xfrm>
          <a:prstGeom prst="roundRect">
            <a:avLst/>
          </a:prstGeom>
          <a:solidFill>
            <a:srgbClr val="F5F5F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_tradnl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46776023-D8FD-0848-9B73-93C84B3B3408}"/>
              </a:ext>
            </a:extLst>
          </p:cNvPr>
          <p:cNvSpPr/>
          <p:nvPr/>
        </p:nvSpPr>
        <p:spPr>
          <a:xfrm>
            <a:off x="3403600" y="1333500"/>
            <a:ext cx="2476500" cy="50800"/>
          </a:xfrm>
          <a:prstGeom prst="rect">
            <a:avLst/>
          </a:prstGeom>
          <a:solidFill>
            <a:srgbClr val="7AB8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_tradnl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C44F964A-972A-D04A-92F1-27C5298988E9}"/>
              </a:ext>
            </a:extLst>
          </p:cNvPr>
          <p:cNvSpPr txBox="1"/>
          <p:nvPr/>
        </p:nvSpPr>
        <p:spPr>
          <a:xfrm>
            <a:off x="3530600" y="1524000"/>
            <a:ext cx="22225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ES_tradnl" sz="2800" b="1">
                <a:solidFill>
                  <a:srgbClr val="7AB800"/>
                </a:solidFill>
                <a:latin typeface="Arial"/>
                <a:cs typeface="Arial"/>
              </a:rPr>
              <a:t>82,1%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EFA47E18-A64B-6040-9EAC-3B59F444D532}"/>
              </a:ext>
            </a:extLst>
          </p:cNvPr>
          <p:cNvSpPr txBox="1"/>
          <p:nvPr/>
        </p:nvSpPr>
        <p:spPr>
          <a:xfrm>
            <a:off x="3530600" y="2197100"/>
            <a:ext cx="22225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ES_tradnl" sz="1400">
                <a:solidFill>
                  <a:srgbClr val="666666"/>
                </a:solidFill>
                <a:latin typeface="Arial"/>
                <a:cs typeface="Arial"/>
              </a:rPr>
              <a:t>Resolución 1ª Visita</a:t>
            </a:r>
          </a:p>
        </p:txBody>
      </p:sp>
      <p:sp>
        <p:nvSpPr>
          <p:cNvPr id="16" name="Rectángulo redondeado 15">
            <a:extLst>
              <a:ext uri="{FF2B5EF4-FFF2-40B4-BE49-F238E27FC236}">
                <a16:creationId xmlns:a16="http://schemas.microsoft.com/office/drawing/2014/main" id="{86D8FCDE-CB98-4E45-B9E8-0802E1FDCA4E}"/>
              </a:ext>
            </a:extLst>
          </p:cNvPr>
          <p:cNvSpPr/>
          <p:nvPr/>
        </p:nvSpPr>
        <p:spPr>
          <a:xfrm>
            <a:off x="6032500" y="1333500"/>
            <a:ext cx="2476500" cy="1460500"/>
          </a:xfrm>
          <a:prstGeom prst="roundRect">
            <a:avLst/>
          </a:prstGeom>
          <a:solidFill>
            <a:srgbClr val="F5F5F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_tradnl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B378CC5B-35D7-2646-B411-02C4983F2895}"/>
              </a:ext>
            </a:extLst>
          </p:cNvPr>
          <p:cNvSpPr/>
          <p:nvPr/>
        </p:nvSpPr>
        <p:spPr>
          <a:xfrm>
            <a:off x="6032500" y="1333500"/>
            <a:ext cx="2476500" cy="50800"/>
          </a:xfrm>
          <a:prstGeom prst="rect">
            <a:avLst/>
          </a:prstGeom>
          <a:solidFill>
            <a:srgbClr val="4A8C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_tradnl"/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4532D5E4-C927-9446-B701-C121DB39681B}"/>
              </a:ext>
            </a:extLst>
          </p:cNvPr>
          <p:cNvSpPr txBox="1"/>
          <p:nvPr/>
        </p:nvSpPr>
        <p:spPr>
          <a:xfrm>
            <a:off x="6159500" y="1524000"/>
            <a:ext cx="22225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ES_tradnl" sz="2800" b="1">
                <a:solidFill>
                  <a:srgbClr val="4A8C00"/>
                </a:solidFill>
                <a:latin typeface="Arial"/>
                <a:cs typeface="Arial"/>
              </a:rPr>
              <a:t>2,85h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B80DE8AF-3C68-9C48-8B51-2AF398B2809A}"/>
              </a:ext>
            </a:extLst>
          </p:cNvPr>
          <p:cNvSpPr txBox="1"/>
          <p:nvPr/>
        </p:nvSpPr>
        <p:spPr>
          <a:xfrm>
            <a:off x="6159500" y="2197100"/>
            <a:ext cx="22225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ES_tradnl" sz="1400">
                <a:solidFill>
                  <a:srgbClr val="666666"/>
                </a:solidFill>
                <a:latin typeface="Arial"/>
                <a:cs typeface="Arial"/>
              </a:rPr>
              <a:t>Tiempo Medio Respuesta</a:t>
            </a:r>
          </a:p>
        </p:txBody>
      </p:sp>
      <p:sp>
        <p:nvSpPr>
          <p:cNvPr id="20" name="Rectángulo redondeado 19">
            <a:extLst>
              <a:ext uri="{FF2B5EF4-FFF2-40B4-BE49-F238E27FC236}">
                <a16:creationId xmlns:a16="http://schemas.microsoft.com/office/drawing/2014/main" id="{A96C0A22-9283-1047-8DD1-6F1C79E4FD47}"/>
              </a:ext>
            </a:extLst>
          </p:cNvPr>
          <p:cNvSpPr/>
          <p:nvPr/>
        </p:nvSpPr>
        <p:spPr>
          <a:xfrm>
            <a:off x="774700" y="2946400"/>
            <a:ext cx="2476500" cy="1460500"/>
          </a:xfrm>
          <a:prstGeom prst="roundRect">
            <a:avLst/>
          </a:prstGeom>
          <a:solidFill>
            <a:srgbClr val="F5F5F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_tradnl"/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D9AC3DD8-D181-F543-A392-8B5AAB4F940C}"/>
              </a:ext>
            </a:extLst>
          </p:cNvPr>
          <p:cNvSpPr/>
          <p:nvPr/>
        </p:nvSpPr>
        <p:spPr>
          <a:xfrm>
            <a:off x="774700" y="2946400"/>
            <a:ext cx="2476500" cy="50800"/>
          </a:xfrm>
          <a:prstGeom prst="rect">
            <a:avLst/>
          </a:prstGeom>
          <a:solidFill>
            <a:srgbClr val="4A8C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_tradnl"/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F336D7D3-8BCA-3F48-A6BC-5B52EEFA0A75}"/>
              </a:ext>
            </a:extLst>
          </p:cNvPr>
          <p:cNvSpPr txBox="1"/>
          <p:nvPr/>
        </p:nvSpPr>
        <p:spPr>
          <a:xfrm>
            <a:off x="901700" y="3136900"/>
            <a:ext cx="22225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ES_tradnl" sz="2800" b="1">
                <a:solidFill>
                  <a:srgbClr val="4A8C00"/>
                </a:solidFill>
                <a:latin typeface="Arial"/>
                <a:cs typeface="Arial"/>
              </a:rPr>
              <a:t>486,9h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EA10F2CC-7097-6447-AF7E-AB6E694B4C53}"/>
              </a:ext>
            </a:extLst>
          </p:cNvPr>
          <p:cNvSpPr txBox="1"/>
          <p:nvPr/>
        </p:nvSpPr>
        <p:spPr>
          <a:xfrm>
            <a:off x="901700" y="3810000"/>
            <a:ext cx="22225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ES_tradnl" sz="1400">
                <a:solidFill>
                  <a:srgbClr val="666666"/>
                </a:solidFill>
                <a:latin typeface="Arial"/>
                <a:cs typeface="Arial"/>
              </a:rPr>
              <a:t>Horas Trabajo Totales</a:t>
            </a:r>
          </a:p>
        </p:txBody>
      </p:sp>
      <p:sp>
        <p:nvSpPr>
          <p:cNvPr id="24" name="Rectángulo redondeado 23">
            <a:extLst>
              <a:ext uri="{FF2B5EF4-FFF2-40B4-BE49-F238E27FC236}">
                <a16:creationId xmlns:a16="http://schemas.microsoft.com/office/drawing/2014/main" id="{23C6AECE-384C-A144-8A58-48B7C39A5C53}"/>
              </a:ext>
            </a:extLst>
          </p:cNvPr>
          <p:cNvSpPr/>
          <p:nvPr/>
        </p:nvSpPr>
        <p:spPr>
          <a:xfrm>
            <a:off x="3403600" y="2946400"/>
            <a:ext cx="2476500" cy="1460500"/>
          </a:xfrm>
          <a:prstGeom prst="roundRect">
            <a:avLst/>
          </a:prstGeom>
          <a:solidFill>
            <a:srgbClr val="F5F5F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_tradnl"/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9E5D5A9B-C2F0-9744-AC01-ADEA0B1B0609}"/>
              </a:ext>
            </a:extLst>
          </p:cNvPr>
          <p:cNvSpPr/>
          <p:nvPr/>
        </p:nvSpPr>
        <p:spPr>
          <a:xfrm>
            <a:off x="3403600" y="2946400"/>
            <a:ext cx="2476500" cy="50800"/>
          </a:xfrm>
          <a:prstGeom prst="rect">
            <a:avLst/>
          </a:prstGeom>
          <a:solidFill>
            <a:srgbClr val="CC4A3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_tradnl"/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20A727DA-CBCB-744B-956F-2FAEC830ABD3}"/>
              </a:ext>
            </a:extLst>
          </p:cNvPr>
          <p:cNvSpPr txBox="1"/>
          <p:nvPr/>
        </p:nvSpPr>
        <p:spPr>
          <a:xfrm>
            <a:off x="3530600" y="3136900"/>
            <a:ext cx="22225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ES_tradnl" sz="2800" b="1">
                <a:solidFill>
                  <a:srgbClr val="CC4A31"/>
                </a:solidFill>
                <a:latin typeface="Arial"/>
                <a:cs typeface="Arial"/>
              </a:rPr>
              <a:t>13</a:t>
            </a: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BA6BCAEF-1B21-464E-93AE-46486FD0D82D}"/>
              </a:ext>
            </a:extLst>
          </p:cNvPr>
          <p:cNvSpPr txBox="1"/>
          <p:nvPr/>
        </p:nvSpPr>
        <p:spPr>
          <a:xfrm>
            <a:off x="3530600" y="3810000"/>
            <a:ext cx="22225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ES_tradnl" sz="1400">
                <a:solidFill>
                  <a:srgbClr val="666666"/>
                </a:solidFill>
                <a:latin typeface="Arial"/>
                <a:cs typeface="Arial"/>
              </a:rPr>
              <a:t>Incidencias Críticas (&gt;4h)</a:t>
            </a:r>
          </a:p>
        </p:txBody>
      </p:sp>
      <p:sp>
        <p:nvSpPr>
          <p:cNvPr id="28" name="Rectángulo redondeado 27">
            <a:extLst>
              <a:ext uri="{FF2B5EF4-FFF2-40B4-BE49-F238E27FC236}">
                <a16:creationId xmlns:a16="http://schemas.microsoft.com/office/drawing/2014/main" id="{DBA8DCB8-B011-4C4B-BD28-77191B796008}"/>
              </a:ext>
            </a:extLst>
          </p:cNvPr>
          <p:cNvSpPr/>
          <p:nvPr/>
        </p:nvSpPr>
        <p:spPr>
          <a:xfrm>
            <a:off x="6032500" y="2946400"/>
            <a:ext cx="2476500" cy="1460500"/>
          </a:xfrm>
          <a:prstGeom prst="roundRect">
            <a:avLst/>
          </a:prstGeom>
          <a:solidFill>
            <a:srgbClr val="F5F5F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_tradnl"/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1BFF6533-4C25-E84F-BCC0-5C1C9EC4A139}"/>
              </a:ext>
            </a:extLst>
          </p:cNvPr>
          <p:cNvSpPr/>
          <p:nvPr/>
        </p:nvSpPr>
        <p:spPr>
          <a:xfrm>
            <a:off x="6032500" y="2946400"/>
            <a:ext cx="2476500" cy="50800"/>
          </a:xfrm>
          <a:prstGeom prst="rect">
            <a:avLst/>
          </a:prstGeom>
          <a:solidFill>
            <a:srgbClr val="5A687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S_tradnl"/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60F7B910-0E2F-7D4E-89B9-4729935EC4C6}"/>
              </a:ext>
            </a:extLst>
          </p:cNvPr>
          <p:cNvSpPr txBox="1"/>
          <p:nvPr/>
        </p:nvSpPr>
        <p:spPr>
          <a:xfrm>
            <a:off x="6159500" y="3136900"/>
            <a:ext cx="22225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ES_tradnl" sz="2800" b="1">
                <a:solidFill>
                  <a:srgbClr val="5A6872"/>
                </a:solidFill>
                <a:latin typeface="Arial"/>
                <a:cs typeface="Arial"/>
              </a:rPr>
              <a:t>55 / 40 / 22</a:t>
            </a: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FF3044ED-61A6-2444-986E-574026D3A5AA}"/>
              </a:ext>
            </a:extLst>
          </p:cNvPr>
          <p:cNvSpPr txBox="1"/>
          <p:nvPr/>
        </p:nvSpPr>
        <p:spPr>
          <a:xfrm>
            <a:off x="6159500" y="3810000"/>
            <a:ext cx="22225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ES_tradnl" sz="1400">
                <a:solidFill>
                  <a:srgbClr val="666666"/>
                </a:solidFill>
                <a:latin typeface="Arial"/>
                <a:cs typeface="Arial"/>
              </a:rPr>
              <a:t>Prev. / Correct. / Urg.</a:t>
            </a:r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D56A435C-0367-8647-A615-283DBBFA3CED}"/>
              </a:ext>
            </a:extLst>
          </p:cNvPr>
          <p:cNvSpPr txBox="1"/>
          <p:nvPr/>
        </p:nvSpPr>
        <p:spPr>
          <a:xfrm>
            <a:off x="774700" y="4406900"/>
            <a:ext cx="7747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ES_tradnl" sz="1400" i="1">
                <a:solidFill>
                  <a:srgbClr val="999999"/>
                </a:solidFill>
                <a:latin typeface="Arial"/>
                <a:cs typeface="Arial"/>
              </a:rPr>
              <a:t>Distribución: Preventiva 55 · Correctiva 40 · Urgencia 22</a:t>
            </a:r>
          </a:p>
        </p:txBody>
      </p:sp>
    </p:spTree>
    <p:extLst>
      <p:ext uri="{BB962C8B-B14F-4D97-AF65-F5344CB8AC3E}">
        <p14:creationId xmlns:p14="http://schemas.microsoft.com/office/powerpoint/2010/main" val="22351074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" cy="5143500"/>
          </a:xfrm>
          <a:prstGeom prst="rect">
            <a:avLst/>
          </a:prstGeom>
          <a:solidFill>
            <a:srgbClr val="7AB800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3" name="Shape 1"/>
          <p:cNvSpPr/>
          <p:nvPr/>
        </p:nvSpPr>
        <p:spPr>
          <a:xfrm>
            <a:off x="548640" y="4663440"/>
            <a:ext cx="8595360" cy="45720"/>
          </a:xfrm>
          <a:prstGeom prst="rect">
            <a:avLst/>
          </a:prstGeom>
          <a:solidFill>
            <a:srgbClr val="7AB800"/>
          </a:solidFill>
          <a:ln/>
        </p:spPr>
        <p:txBody>
          <a:bodyPr/>
          <a:lstStyle/>
          <a:p>
            <a:endParaRPr lang="es-ES_tradnl"/>
          </a:p>
        </p:txBody>
      </p:sp>
      <p:pic>
        <p:nvPicPr>
          <p:cNvPr id="4" name="Image 0" descr="/Users/ironmac/Dev-local/formacion-gesinstal/docs/logo_geinst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65760"/>
            <a:ext cx="731520" cy="731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37360" y="36576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Análisis de Incidencias</a:t>
            </a:r>
          </a:p>
        </p:txBody>
      </p:sp>
      <p:sp>
        <p:nvSpPr>
          <p:cNvPr id="6" name="Text 3"/>
          <p:cNvSpPr/>
          <p:nvPr/>
        </p:nvSpPr>
        <p:spPr>
          <a:xfrm>
            <a:off x="1737360" y="9144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AB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Incidencias por Cliente y Evolución del Tiempo de Respuesta</a:t>
            </a:r>
          </a:p>
        </p:txBody>
      </p:sp>
      <p:sp>
        <p:nvSpPr>
          <p:cNvPr id="8" name="Text 5"/>
          <p:cNvSpPr/>
          <p:nvPr/>
        </p:nvSpPr>
        <p:spPr>
          <a:xfrm>
            <a:off x="777240" y="47091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Geinstal · Mantenimiento Integral e Instalaciones Electromecánicas</a:t>
            </a:r>
            <a:endParaRPr lang="en-US" sz="900" dirty="0"/>
          </a:p>
        </p:txBody>
      </p:sp>
      <p:graphicFrame>
        <p:nvGraphicFramePr>
          <p:cNvPr id="101" name="Chart 1"/>
          <p:cNvGraphicFramePr/>
          <p:nvPr/>
        </p:nvGraphicFramePr>
        <p:xfrm>
          <a:off x="698500" y="1308100"/>
          <a:ext cx="3937000" cy="3238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02" name="Chart 2"/>
          <p:cNvGraphicFramePr/>
          <p:nvPr/>
        </p:nvGraphicFramePr>
        <p:xfrm>
          <a:off x="4762500" y="1308100"/>
          <a:ext cx="3937000" cy="3238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21713701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" cy="5143500"/>
          </a:xfrm>
          <a:prstGeom prst="rect">
            <a:avLst/>
          </a:prstGeom>
          <a:solidFill>
            <a:srgbClr val="7AB800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3" name="Shape 1"/>
          <p:cNvSpPr/>
          <p:nvPr/>
        </p:nvSpPr>
        <p:spPr>
          <a:xfrm>
            <a:off x="548640" y="4663440"/>
            <a:ext cx="8595360" cy="45720"/>
          </a:xfrm>
          <a:prstGeom prst="rect">
            <a:avLst/>
          </a:prstGeom>
          <a:solidFill>
            <a:srgbClr val="7AB800"/>
          </a:solidFill>
          <a:ln/>
        </p:spPr>
        <p:txBody>
          <a:bodyPr/>
          <a:lstStyle/>
          <a:p>
            <a:endParaRPr lang="es-ES_tradnl"/>
          </a:p>
        </p:txBody>
      </p:sp>
      <p:pic>
        <p:nvPicPr>
          <p:cNvPr id="4" name="Image 0" descr="/Users/ironmac/Dev-local/formacion-gesinstal/docs/logo_geinst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65760"/>
            <a:ext cx="731520" cy="731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37360" y="36576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Rendimiento por Técnico</a:t>
            </a:r>
          </a:p>
        </p:txBody>
      </p:sp>
      <p:sp>
        <p:nvSpPr>
          <p:cNvPr id="6" name="Text 3"/>
          <p:cNvSpPr/>
          <p:nvPr/>
        </p:nvSpPr>
        <p:spPr>
          <a:xfrm>
            <a:off x="1737360" y="9144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AB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Métricas individuales Q1 2026</a:t>
            </a:r>
          </a:p>
        </p:txBody>
      </p:sp>
      <p:sp>
        <p:nvSpPr>
          <p:cNvPr id="8" name="Text 5"/>
          <p:cNvSpPr/>
          <p:nvPr/>
        </p:nvSpPr>
        <p:spPr>
          <a:xfrm>
            <a:off x="777240" y="47091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Geinstal · Mantenimiento Integral e Instalaciones Electromecánicas</a:t>
            </a:r>
            <a:endParaRPr lang="en-US" sz="900" dirty="0"/>
          </a:p>
        </p:txBody>
      </p:sp>
      <p:graphicFrame>
        <p:nvGraphicFramePr>
          <p:cNvPr id="9" name="Tabla 8">
            <a:extLst>
              <a:ext uri="{FF2B5EF4-FFF2-40B4-BE49-F238E27FC236}">
                <a16:creationId xmlns:a16="http://schemas.microsoft.com/office/drawing/2014/main" id="{0F5B04CF-4831-E74B-9BF1-33538C1A19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5048980"/>
              </p:ext>
            </p:extLst>
          </p:nvPr>
        </p:nvGraphicFramePr>
        <p:xfrm>
          <a:off x="774700" y="1397000"/>
          <a:ext cx="7747000" cy="28464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6750">
                  <a:extLst>
                    <a:ext uri="{9D8B030D-6E8A-4147-A177-3AD203B41FA5}">
                      <a16:colId xmlns:a16="http://schemas.microsoft.com/office/drawing/2014/main" val="373951303"/>
                    </a:ext>
                  </a:extLst>
                </a:gridCol>
                <a:gridCol w="1936750">
                  <a:extLst>
                    <a:ext uri="{9D8B030D-6E8A-4147-A177-3AD203B41FA5}">
                      <a16:colId xmlns:a16="http://schemas.microsoft.com/office/drawing/2014/main" val="4067951139"/>
                    </a:ext>
                  </a:extLst>
                </a:gridCol>
                <a:gridCol w="1936750">
                  <a:extLst>
                    <a:ext uri="{9D8B030D-6E8A-4147-A177-3AD203B41FA5}">
                      <a16:colId xmlns:a16="http://schemas.microsoft.com/office/drawing/2014/main" val="388859991"/>
                    </a:ext>
                  </a:extLst>
                </a:gridCol>
                <a:gridCol w="1936750">
                  <a:extLst>
                    <a:ext uri="{9D8B030D-6E8A-4147-A177-3AD203B41FA5}">
                      <a16:colId xmlns:a16="http://schemas.microsoft.com/office/drawing/2014/main" val="1476607918"/>
                    </a:ext>
                  </a:extLst>
                </a:gridCol>
              </a:tblGrid>
              <a:tr h="465667">
                <a:tc>
                  <a:txBody>
                    <a:bodyPr/>
                    <a:lstStyle/>
                    <a:p>
                      <a:pPr algn="ctr"/>
                      <a:r>
                        <a:rPr lang="es-ES_tradnl" sz="14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Técnico</a:t>
                      </a:r>
                    </a:p>
                  </a:txBody>
                  <a:tcPr anchor="ctr">
                    <a:solidFill>
                      <a:srgbClr val="7AB8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Órdenes Asignadas</a:t>
                      </a:r>
                    </a:p>
                  </a:txBody>
                  <a:tcPr anchor="ctr">
                    <a:solidFill>
                      <a:srgbClr val="7AB8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% Resolución 1ª Visita</a:t>
                      </a:r>
                    </a:p>
                  </a:txBody>
                  <a:tcPr anchor="ctr">
                    <a:solidFill>
                      <a:srgbClr val="7AB8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Tiempo Medio Resp. (h)</a:t>
                      </a:r>
                    </a:p>
                  </a:txBody>
                  <a:tcPr anchor="ctr">
                    <a:solidFill>
                      <a:srgbClr val="7AB8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7078257"/>
                  </a:ext>
                </a:extLst>
              </a:tr>
              <a:tr h="465667">
                <a:tc>
                  <a:txBody>
                    <a:bodyPr/>
                    <a:lstStyle/>
                    <a:p>
                      <a:pPr algn="l"/>
                      <a:r>
                        <a:rPr lang="es-ES_tradnl" sz="140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J. Sánchez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34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91,2%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1,93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8285594"/>
                  </a:ext>
                </a:extLst>
              </a:tr>
              <a:tr h="465667">
                <a:tc>
                  <a:txBody>
                    <a:bodyPr/>
                    <a:lstStyle/>
                    <a:p>
                      <a:pPr algn="l"/>
                      <a:r>
                        <a:rPr lang="es-ES_tradnl" sz="140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D. Pérez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18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100%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2,20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4274906"/>
                  </a:ext>
                </a:extLst>
              </a:tr>
              <a:tr h="465667">
                <a:tc>
                  <a:txBody>
                    <a:bodyPr/>
                    <a:lstStyle/>
                    <a:p>
                      <a:pPr algn="l"/>
                      <a:r>
                        <a:rPr lang="es-ES_tradnl" sz="140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A. Fort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18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94,4%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2,17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4792718"/>
                  </a:ext>
                </a:extLst>
              </a:tr>
              <a:tr h="465667">
                <a:tc>
                  <a:txBody>
                    <a:bodyPr/>
                    <a:lstStyle/>
                    <a:p>
                      <a:pPr algn="l"/>
                      <a:r>
                        <a:rPr lang="es-ES_tradnl" sz="140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M. Olivares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29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b="1">
                          <a:solidFill>
                            <a:srgbClr val="D4870F"/>
                          </a:solidFill>
                          <a:latin typeface="Arial"/>
                          <a:cs typeface="Arial"/>
                        </a:rPr>
                        <a:t>72,4%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b="1">
                          <a:solidFill>
                            <a:srgbClr val="D4870F"/>
                          </a:solidFill>
                          <a:latin typeface="Arial"/>
                          <a:cs typeface="Arial"/>
                        </a:rPr>
                        <a:t>3,14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6645910"/>
                  </a:ext>
                </a:extLst>
              </a:tr>
              <a:tr h="465667">
                <a:tc>
                  <a:txBody>
                    <a:bodyPr/>
                    <a:lstStyle/>
                    <a:p>
                      <a:pPr algn="l"/>
                      <a:r>
                        <a:rPr lang="es-ES_tradnl" sz="140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D. Rodríguez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18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b="1">
                          <a:solidFill>
                            <a:srgbClr val="CC4A31"/>
                          </a:solidFill>
                          <a:latin typeface="Arial"/>
                          <a:cs typeface="Arial"/>
                        </a:rPr>
                        <a:t>50,0%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b="1">
                          <a:solidFill>
                            <a:srgbClr val="CC4A31"/>
                          </a:solidFill>
                          <a:latin typeface="Arial"/>
                          <a:cs typeface="Arial"/>
                        </a:rPr>
                        <a:t>4,41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9335244"/>
                  </a:ext>
                </a:extLst>
              </a:tr>
            </a:tbl>
          </a:graphicData>
        </a:graphic>
      </p:graphicFrame>
      <p:sp>
        <p:nvSpPr>
          <p:cNvPr id="10" name="CuadroTexto 9">
            <a:extLst>
              <a:ext uri="{FF2B5EF4-FFF2-40B4-BE49-F238E27FC236}">
                <a16:creationId xmlns:a16="http://schemas.microsoft.com/office/drawing/2014/main" id="{ED0C90FC-1F00-004E-8590-A471B344614D}"/>
              </a:ext>
            </a:extLst>
          </p:cNvPr>
          <p:cNvSpPr txBox="1"/>
          <p:nvPr/>
        </p:nvSpPr>
        <p:spPr>
          <a:xfrm>
            <a:off x="774700" y="4292600"/>
            <a:ext cx="7747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ES_tradnl" sz="1400" i="1">
                <a:solidFill>
                  <a:srgbClr val="CC4A31"/>
                </a:solidFill>
                <a:latin typeface="Arial"/>
                <a:cs typeface="Arial"/>
              </a:rPr>
              <a:t>D. Rodríguez: mayor tiempo de respuesta (4,41h) y menor resolución (50%). Revisar carga.</a:t>
            </a:r>
          </a:p>
        </p:txBody>
      </p:sp>
    </p:spTree>
    <p:extLst>
      <p:ext uri="{BB962C8B-B14F-4D97-AF65-F5344CB8AC3E}">
        <p14:creationId xmlns:p14="http://schemas.microsoft.com/office/powerpoint/2010/main" val="30150866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" cy="5143500"/>
          </a:xfrm>
          <a:prstGeom prst="rect">
            <a:avLst/>
          </a:prstGeom>
          <a:solidFill>
            <a:srgbClr val="7AB800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3" name="Shape 1"/>
          <p:cNvSpPr/>
          <p:nvPr/>
        </p:nvSpPr>
        <p:spPr>
          <a:xfrm>
            <a:off x="548640" y="4663440"/>
            <a:ext cx="8595360" cy="45720"/>
          </a:xfrm>
          <a:prstGeom prst="rect">
            <a:avLst/>
          </a:prstGeom>
          <a:solidFill>
            <a:srgbClr val="7AB800"/>
          </a:solidFill>
          <a:ln/>
        </p:spPr>
        <p:txBody>
          <a:bodyPr/>
          <a:lstStyle/>
          <a:p>
            <a:endParaRPr lang="es-ES_tradnl"/>
          </a:p>
        </p:txBody>
      </p:sp>
      <p:pic>
        <p:nvPicPr>
          <p:cNvPr id="4" name="Image 0" descr="/Users/ironmac/Dev-local/formacion-gesinstal/docs/logo_geinst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65760"/>
            <a:ext cx="731520" cy="731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37360" y="36576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Acciones Pendientes</a:t>
            </a:r>
          </a:p>
        </p:txBody>
      </p:sp>
      <p:sp>
        <p:nvSpPr>
          <p:cNvPr id="6" name="Text 3"/>
          <p:cNvSpPr/>
          <p:nvPr/>
        </p:nvSpPr>
        <p:spPr>
          <a:xfrm>
            <a:off x="1737360" y="9144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AB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Recomendaciones basadas en el análisis Q1 2026</a:t>
            </a:r>
          </a:p>
        </p:txBody>
      </p:sp>
      <p:sp>
        <p:nvSpPr>
          <p:cNvPr id="8" name="Text 5"/>
          <p:cNvSpPr/>
          <p:nvPr/>
        </p:nvSpPr>
        <p:spPr>
          <a:xfrm>
            <a:off x="777240" y="47091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Geinstal · Mantenimiento Integral e Instalaciones Electromecánicas</a:t>
            </a:r>
            <a:endParaRPr lang="en-US" sz="900" dirty="0"/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B5092331-CBD9-DB4E-B5AD-23E1DE04A15B}"/>
              </a:ext>
            </a:extLst>
          </p:cNvPr>
          <p:cNvSpPr/>
          <p:nvPr/>
        </p:nvSpPr>
        <p:spPr>
          <a:xfrm>
            <a:off x="774700" y="1422400"/>
            <a:ext cx="381000" cy="381000"/>
          </a:xfrm>
          <a:prstGeom prst="ellipse">
            <a:avLst/>
          </a:prstGeom>
          <a:solidFill>
            <a:srgbClr val="3D6B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s-ES_tradnl" sz="1400" b="1">
                <a:solidFill>
                  <a:srgbClr val="FFFFFF"/>
                </a:solidFill>
                <a:latin typeface="Arial"/>
                <a:cs typeface="Arial"/>
              </a:rPr>
              <a:t>1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3401875C-ACEA-5742-9854-FA8182F06D1D}"/>
              </a:ext>
            </a:extLst>
          </p:cNvPr>
          <p:cNvSpPr txBox="1"/>
          <p:nvPr/>
        </p:nvSpPr>
        <p:spPr>
          <a:xfrm>
            <a:off x="1257300" y="1397000"/>
            <a:ext cx="57785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</a:rPr>
              <a:t>Revisar SLA SEAT Martorell</a:t>
            </a:r>
            <a:r>
              <a:rPr lang="en-US" sz="1200" dirty="0">
                <a:solidFill>
                  <a:srgbClr val="666666"/>
                </a:solidFill>
                <a:latin typeface="Arial" pitchFamily="34" charset="0"/>
              </a:rPr>
              <a:t> — Mayor n.º incidencias críticas (&gt;4h)</a:t>
            </a:r>
          </a:p>
        </p:txBody>
      </p:sp>
      <p:sp>
        <p:nvSpPr>
          <p:cNvPr id="11" name="Rectángulo redondeado 10">
            <a:extLst>
              <a:ext uri="{FF2B5EF4-FFF2-40B4-BE49-F238E27FC236}">
                <a16:creationId xmlns:a16="http://schemas.microsoft.com/office/drawing/2014/main" id="{F146E551-1322-454E-8BB7-05A92D4C5B77}"/>
              </a:ext>
            </a:extLst>
          </p:cNvPr>
          <p:cNvSpPr/>
          <p:nvPr/>
        </p:nvSpPr>
        <p:spPr>
          <a:xfrm>
            <a:off x="7188200" y="1422400"/>
            <a:ext cx="1333500" cy="304800"/>
          </a:xfrm>
          <a:prstGeom prst="roundRect">
            <a:avLst/>
          </a:prstGeom>
          <a:solidFill>
            <a:srgbClr val="CC4A3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s-ES_tradnl" sz="1400" b="1">
                <a:solidFill>
                  <a:srgbClr val="FFFFFF"/>
                </a:solidFill>
                <a:latin typeface="Arial"/>
                <a:cs typeface="Arial"/>
              </a:rPr>
              <a:t>Alta</a:t>
            </a:r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9B4CE5BD-8439-CC4C-B88F-3D00E8D28EED}"/>
              </a:ext>
            </a:extLst>
          </p:cNvPr>
          <p:cNvSpPr/>
          <p:nvPr/>
        </p:nvSpPr>
        <p:spPr>
          <a:xfrm>
            <a:off x="774700" y="2032000"/>
            <a:ext cx="381000" cy="381000"/>
          </a:xfrm>
          <a:prstGeom prst="ellipse">
            <a:avLst/>
          </a:prstGeom>
          <a:solidFill>
            <a:srgbClr val="3D6B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s-ES_tradnl" sz="1400" b="1">
                <a:solidFill>
                  <a:srgbClr val="FFFFFF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8184477B-4ECA-4640-9E8D-8097C7BDD6B7}"/>
              </a:ext>
            </a:extLst>
          </p:cNvPr>
          <p:cNvSpPr txBox="1"/>
          <p:nvPr/>
        </p:nvSpPr>
        <p:spPr>
          <a:xfrm>
            <a:off x="1257300" y="2006600"/>
            <a:ext cx="57785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</a:rPr>
              <a:t>Analizar tendencia tiempo de respuesta</a:t>
            </a:r>
            <a:r>
              <a:rPr lang="en-US" sz="1200" dirty="0">
                <a:solidFill>
                  <a:srgbClr val="666666"/>
                </a:solidFill>
                <a:latin typeface="Arial" pitchFamily="34" charset="0"/>
              </a:rPr>
              <a:t> — Pico en febrero (3,35h)</a:t>
            </a:r>
          </a:p>
        </p:txBody>
      </p:sp>
      <p:sp>
        <p:nvSpPr>
          <p:cNvPr id="15" name="Rectángulo redondeado 14">
            <a:extLst>
              <a:ext uri="{FF2B5EF4-FFF2-40B4-BE49-F238E27FC236}">
                <a16:creationId xmlns:a16="http://schemas.microsoft.com/office/drawing/2014/main" id="{009C98DF-876F-C442-8C45-929B078BBC5C}"/>
              </a:ext>
            </a:extLst>
          </p:cNvPr>
          <p:cNvSpPr/>
          <p:nvPr/>
        </p:nvSpPr>
        <p:spPr>
          <a:xfrm>
            <a:off x="7188200" y="2032000"/>
            <a:ext cx="1333500" cy="304800"/>
          </a:xfrm>
          <a:prstGeom prst="roundRect">
            <a:avLst/>
          </a:prstGeom>
          <a:solidFill>
            <a:srgbClr val="CC4A3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s-ES_tradnl" sz="1400" b="1">
                <a:solidFill>
                  <a:srgbClr val="FFFFFF"/>
                </a:solidFill>
                <a:latin typeface="Arial"/>
                <a:cs typeface="Arial"/>
              </a:rPr>
              <a:t>Alta</a:t>
            </a:r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1D3C3965-B49B-1341-B557-59B01B694D6A}"/>
              </a:ext>
            </a:extLst>
          </p:cNvPr>
          <p:cNvSpPr/>
          <p:nvPr/>
        </p:nvSpPr>
        <p:spPr>
          <a:xfrm>
            <a:off x="774700" y="2641600"/>
            <a:ext cx="381000" cy="381000"/>
          </a:xfrm>
          <a:prstGeom prst="ellipse">
            <a:avLst/>
          </a:prstGeom>
          <a:solidFill>
            <a:srgbClr val="3D6B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s-ES_tradnl" sz="1400" b="1">
                <a:solidFill>
                  <a:srgbClr val="FFFFFF"/>
                </a:solidFill>
                <a:latin typeface="Arial"/>
                <a:cs typeface="Arial"/>
              </a:rPr>
              <a:t>3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C521E42A-3A83-9247-8F16-8CD37B887CD3}"/>
              </a:ext>
            </a:extLst>
          </p:cNvPr>
          <p:cNvSpPr txBox="1"/>
          <p:nvPr/>
        </p:nvSpPr>
        <p:spPr>
          <a:xfrm>
            <a:off x="1257300" y="2616200"/>
            <a:ext cx="57785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</a:rPr>
              <a:t>Recurso dedicado H. Vall d'Hebron</a:t>
            </a:r>
            <a:r>
              <a:rPr lang="en-US" sz="1200" dirty="0">
                <a:solidFill>
                  <a:srgbClr val="666666"/>
                </a:solidFill>
                <a:latin typeface="Arial" pitchFamily="34" charset="0"/>
              </a:rPr>
              <a:t> — Lidera volumen (30 órdenes)</a:t>
            </a:r>
          </a:p>
        </p:txBody>
      </p:sp>
      <p:sp>
        <p:nvSpPr>
          <p:cNvPr id="19" name="Rectángulo redondeado 18">
            <a:extLst>
              <a:ext uri="{FF2B5EF4-FFF2-40B4-BE49-F238E27FC236}">
                <a16:creationId xmlns:a16="http://schemas.microsoft.com/office/drawing/2014/main" id="{E468CD86-63A9-B242-B161-7552708A132B}"/>
              </a:ext>
            </a:extLst>
          </p:cNvPr>
          <p:cNvSpPr/>
          <p:nvPr/>
        </p:nvSpPr>
        <p:spPr>
          <a:xfrm>
            <a:off x="7188200" y="2641600"/>
            <a:ext cx="1333500" cy="304800"/>
          </a:xfrm>
          <a:prstGeom prst="roundRect">
            <a:avLst/>
          </a:prstGeom>
          <a:solidFill>
            <a:srgbClr val="8B56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s-ES_tradnl" sz="1400" b="1">
                <a:solidFill>
                  <a:srgbClr val="FFFFFF"/>
                </a:solidFill>
                <a:latin typeface="Arial"/>
                <a:cs typeface="Arial"/>
              </a:rPr>
              <a:t>Media</a:t>
            </a:r>
          </a:p>
        </p:txBody>
      </p:sp>
      <p:sp>
        <p:nvSpPr>
          <p:cNvPr id="20" name="Elipse 19">
            <a:extLst>
              <a:ext uri="{FF2B5EF4-FFF2-40B4-BE49-F238E27FC236}">
                <a16:creationId xmlns:a16="http://schemas.microsoft.com/office/drawing/2014/main" id="{9A7F4945-F7D7-284E-830E-D719E3461E8B}"/>
              </a:ext>
            </a:extLst>
          </p:cNvPr>
          <p:cNvSpPr/>
          <p:nvPr/>
        </p:nvSpPr>
        <p:spPr>
          <a:xfrm>
            <a:off x="774700" y="3251200"/>
            <a:ext cx="381000" cy="381000"/>
          </a:xfrm>
          <a:prstGeom prst="ellipse">
            <a:avLst/>
          </a:prstGeom>
          <a:solidFill>
            <a:srgbClr val="3D6B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s-ES_tradnl" sz="1400" b="1">
                <a:solidFill>
                  <a:srgbClr val="FFFFFF"/>
                </a:solidFill>
                <a:latin typeface="Arial"/>
                <a:cs typeface="Arial"/>
              </a:rPr>
              <a:t>4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5063F951-3145-064C-B145-C6D2B2B8DA7B}"/>
              </a:ext>
            </a:extLst>
          </p:cNvPr>
          <p:cNvSpPr txBox="1"/>
          <p:nvPr/>
        </p:nvSpPr>
        <p:spPr>
          <a:xfrm>
            <a:off x="1257300" y="3225800"/>
            <a:ext cx="57785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</a:rPr>
              <a:t>Redistribuir carga Olivares y Rodríguez</a:t>
            </a:r>
            <a:r>
              <a:rPr lang="en-US" sz="1200" dirty="0">
                <a:solidFill>
                  <a:srgbClr val="666666"/>
                </a:solidFill>
                <a:latin typeface="Arial" pitchFamily="34" charset="0"/>
              </a:rPr>
              <a:t> — 72% y 50% resolución</a:t>
            </a:r>
          </a:p>
        </p:txBody>
      </p:sp>
      <p:sp>
        <p:nvSpPr>
          <p:cNvPr id="23" name="Rectángulo redondeado 22">
            <a:extLst>
              <a:ext uri="{FF2B5EF4-FFF2-40B4-BE49-F238E27FC236}">
                <a16:creationId xmlns:a16="http://schemas.microsoft.com/office/drawing/2014/main" id="{C2398562-A2ED-004B-920F-E462FD09D956}"/>
              </a:ext>
            </a:extLst>
          </p:cNvPr>
          <p:cNvSpPr/>
          <p:nvPr/>
        </p:nvSpPr>
        <p:spPr>
          <a:xfrm>
            <a:off x="7188200" y="3251200"/>
            <a:ext cx="1333500" cy="304800"/>
          </a:xfrm>
          <a:prstGeom prst="roundRect">
            <a:avLst/>
          </a:prstGeom>
          <a:solidFill>
            <a:srgbClr val="CC4A3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s-ES_tradnl" sz="1400" b="1">
                <a:solidFill>
                  <a:srgbClr val="FFFFFF"/>
                </a:solidFill>
                <a:latin typeface="Arial"/>
                <a:cs typeface="Arial"/>
              </a:rPr>
              <a:t>Alta</a:t>
            </a:r>
          </a:p>
        </p:txBody>
      </p:sp>
      <p:sp>
        <p:nvSpPr>
          <p:cNvPr id="24" name="Elipse 23">
            <a:extLst>
              <a:ext uri="{FF2B5EF4-FFF2-40B4-BE49-F238E27FC236}">
                <a16:creationId xmlns:a16="http://schemas.microsoft.com/office/drawing/2014/main" id="{D3838CEE-D10D-D446-A475-6C9D2DDCE7E1}"/>
              </a:ext>
            </a:extLst>
          </p:cNvPr>
          <p:cNvSpPr/>
          <p:nvPr/>
        </p:nvSpPr>
        <p:spPr>
          <a:xfrm>
            <a:off x="774700" y="3860800"/>
            <a:ext cx="381000" cy="381000"/>
          </a:xfrm>
          <a:prstGeom prst="ellipse">
            <a:avLst/>
          </a:prstGeom>
          <a:solidFill>
            <a:srgbClr val="3D6B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s-ES_tradnl" sz="1400" b="1">
                <a:solidFill>
                  <a:srgbClr val="FFFFFF"/>
                </a:solidFill>
                <a:latin typeface="Arial"/>
                <a:cs typeface="Arial"/>
              </a:rPr>
              <a:t>5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8E17C10F-7158-6844-AFAF-08586917734A}"/>
              </a:ext>
            </a:extLst>
          </p:cNvPr>
          <p:cNvSpPr txBox="1"/>
          <p:nvPr/>
        </p:nvSpPr>
        <p:spPr>
          <a:xfrm>
            <a:off x="1257300" y="3835400"/>
            <a:ext cx="57785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</a:rPr>
              <a:t>Mejorar tasa resolución 1ª visita</a:t>
            </a:r>
            <a:r>
              <a:rPr lang="en-US" sz="1200" dirty="0">
                <a:solidFill>
                  <a:srgbClr val="666666"/>
                </a:solidFill>
                <a:latin typeface="Arial" pitchFamily="34" charset="0"/>
              </a:rPr>
              <a:t> — Global 82,1%, identificar pautas</a:t>
            </a:r>
          </a:p>
        </p:txBody>
      </p:sp>
      <p:sp>
        <p:nvSpPr>
          <p:cNvPr id="27" name="Rectángulo redondeado 26">
            <a:extLst>
              <a:ext uri="{FF2B5EF4-FFF2-40B4-BE49-F238E27FC236}">
                <a16:creationId xmlns:a16="http://schemas.microsoft.com/office/drawing/2014/main" id="{5F6839A6-A6CD-8E43-9597-88E0FEAB2535}"/>
              </a:ext>
            </a:extLst>
          </p:cNvPr>
          <p:cNvSpPr/>
          <p:nvPr/>
        </p:nvSpPr>
        <p:spPr>
          <a:xfrm>
            <a:off x="7188200" y="3860800"/>
            <a:ext cx="1333500" cy="304800"/>
          </a:xfrm>
          <a:prstGeom prst="roundRect">
            <a:avLst/>
          </a:prstGeom>
          <a:solidFill>
            <a:srgbClr val="8B56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s-ES_tradnl" sz="1400" b="1">
                <a:solidFill>
                  <a:srgbClr val="FFFFFF"/>
                </a:solidFill>
                <a:latin typeface="Arial"/>
                <a:cs typeface="Arial"/>
              </a:rPr>
              <a:t>Media</a:t>
            </a:r>
          </a:p>
        </p:txBody>
      </p:sp>
    </p:spTree>
    <p:extLst>
      <p:ext uri="{BB962C8B-B14F-4D97-AF65-F5344CB8AC3E}">
        <p14:creationId xmlns:p14="http://schemas.microsoft.com/office/powerpoint/2010/main" val="14841418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F0FF6DF5-7F16-2540-9C0D-E1A17562ED49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3bbaa876-0955-4321-86ca-56fdc43ea630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282</Words>
  <Application>Microsoft Macintosh PowerPoint</Application>
  <PresentationFormat>Presentación en pantalla (16:9)</PresentationFormat>
  <Paragraphs>76</Paragraphs>
  <Slides>5</Slides>
  <Notes>5</Notes>
  <HiddenSlides>0</HiddenSlides>
  <MMClips>0</MMClips>
  <ScaleCrop>false</ScaleCrop>
  <HeadingPairs>
    <vt:vector size="6" baseType="variant">
      <vt:variant>
        <vt:lpstr>Fuentes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7" baseType="lpstr"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Geinstal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Plantilla Informe Mensual — Mantenimiento</dc:title>
  <dc:subject>PptxGenJS Presentation</dc:subject>
  <dc:creator>Geinstal</dc:creator>
  <cp:lastModifiedBy>Daniel Sevilla Guerra</cp:lastModifiedBy>
  <cp:revision>2</cp:revision>
  <dcterms:created xsi:type="dcterms:W3CDTF">2026-04-16T17:57:01Z</dcterms:created>
  <dcterms:modified xsi:type="dcterms:W3CDTF">2026-04-19T09:21:57Z</dcterms:modified>
</cp:coreProperties>
</file>