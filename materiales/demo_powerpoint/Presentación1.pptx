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8" r:id="rId2"/>
    <p:sldId id="260" r:id="rId3"/>
    <p:sldId id="277" r:id="rId4"/>
    <p:sldId id="275" r:id="rId5"/>
    <p:sldId id="280" r:id="rId6"/>
    <p:sldId id="268" r:id="rId7"/>
    <p:sldId id="279" r:id="rId8"/>
    <p:sldId id="278" r:id="rId9"/>
    <p:sldId id="274" r:id="rId10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0"/>
    <p:restoredTop sz="94677"/>
  </p:normalViewPr>
  <p:slideViewPr>
    <p:cSldViewPr snapToGrid="0">
      <p:cViewPr varScale="1">
        <p:scale>
          <a:sx n="111" d="100"/>
          <a:sy n="111" d="100"/>
        </p:scale>
        <p:origin x="248" y="2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3E14A-D6EA-BE25-8DC8-CD21CB5D16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76996CD-5E03-4BC7-B76E-DAF4F53300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182465C-239C-C53B-28F4-545C94BB9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9F7A8A-CF83-B827-66D0-C25F0A836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70A26C-684A-E33E-1F58-9BDA49CB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51274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8EEA1E-B14D-CD05-2C48-C475BDFCC2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312C69-CE4C-E55D-853A-A685C967D3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386B891-188D-53D4-EF42-3120F96B55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AD626E8-7B79-A6FE-54B4-BD929D4F6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8F3B851-020C-479B-536F-F43D9AD97C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13000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0F3CF7-F16A-FF3D-5B7D-66935CDA4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100E6DD-362E-F1E9-274E-36228819A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46319-A661-5E2A-9E34-787D48D7F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900237-62B0-207E-40F5-049D1BCAE4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1A2AF35-EE6C-0E13-CECE-F7720F56E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768361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6967BB-0B66-0B21-8A8C-D56C3F2BD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32E05F-3F40-15BF-2D71-647DFD71DE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F72096-2C24-924A-51A2-17BFB8EF22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C7D0A96-2737-4A1C-34A6-72316F9DB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82A7E9E-FAF4-2162-BA2A-F5AE10C3C1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B63963-74FB-D84F-7B37-2A4E963E7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75392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BD37DC-8DFD-2CDD-F393-E61A06069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4F1A83-F7B6-D49E-FCB6-01413BDFD6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B331D4-83DA-13DC-0635-34DA2A422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B73F3DF-A872-3F10-E603-D94EBF7DF9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16019C-B07C-2932-247B-64F70B86B8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EA829AF-E23F-3527-FCBE-876C4ABB5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127A985-3E50-757D-303E-025970A27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0393702-5030-4217-79A3-F4DF96876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240744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7890-1145-25F7-0C8C-D06E317F7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659FF9F-20D5-0E06-FEFA-EAD508308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4263300-0DBC-B4C3-A829-69A76E2B3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C4533C4-6839-B60C-85C4-FB431D54E0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995477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21E859C1-E918-29D7-0306-A0AF4FF4B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4DE2125-8BF0-C43D-63EF-88450A56C7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59D722-2E04-002D-F885-D2AEB2429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461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6A414D-7E50-98F1-AE7B-F557BF4ACB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AC3404-5847-8D71-3162-624587CDB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3099863-CB68-12D2-2645-AD2F879666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5F0C187-2CA3-FBC1-A7D0-9927B593B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D90AD5-7993-2DA4-DCDC-9969738165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489852A-94D2-33ED-8691-B34062E2A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651184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6EDC01-2A39-F77D-ACC9-0DA8EE440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9BD609A-C8BF-A2B0-9C16-DBB563ED6B8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19FB860-9656-2806-D3DA-062B274AF4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F67E83-9528-9968-C04B-310C95582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B190E0-0889-86DF-8A06-7820E6F124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1099405-9D7A-FCD5-9368-2410B3B5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426287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EBCF6-608F-4B6D-74AB-C90B50E85C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30FEC7E-C801-0AE0-54F7-5836A0FBA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33F6FA7-25C6-C691-EEE0-8F8711F56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5BD3735-F171-7BAD-7840-544BB8E16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9F2205-9EEB-C5B3-9C6F-D022E5D61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43445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CC633C8-A588-7A7A-9E8F-F2C4823DC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AC7C11-6C21-241E-6FD1-F6AA1CF53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3C409C-FBA8-2364-B3BD-E06066F1A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A0E85E1-3747-B2EC-213F-E7EB40135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229D2A-6118-6503-C579-2FAE11E3E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890847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699A058-5B71-4380-198D-06FBD05F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7835FB5-180F-5DBB-C299-B997B0DBB1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98882E2-CEDF-22FB-B832-214A3EB7E3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0FE3C5-8C00-A44E-BE71-D4E3B8DCAD0B}" type="datetimeFigureOut">
              <a:rPr lang="es-ES_tradnl" smtClean="0"/>
              <a:t>16/4/26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49881A-985B-1C6F-6BAC-8112EE24F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9EAE7E2-2764-CB59-868D-96F6482FF7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004446-CBC7-C146-8E7F-9C2B6646706C}" type="slidenum">
              <a:rPr lang="es-ES_tradnl" smtClean="0"/>
              <a:t>‹Nº›</a:t>
            </a:fld>
            <a:endParaRPr lang="es-ES_tradnl"/>
          </a:p>
        </p:txBody>
      </p:sp>
      <p:sp>
        <p:nvSpPr>
          <p:cNvPr id="900" name="AccentBar"/>
          <p:cNvSpPr/>
          <p:nvPr/>
        </p:nvSpPr>
        <p:spPr>
          <a:xfrm>
            <a:off x="0" y="6583050"/>
            <a:ext cx="12192000" cy="274320"/>
          </a:xfrm>
          <a:prstGeom prst="rect">
            <a:avLst/>
          </a:prstGeom>
          <a:gradFill>
            <a:gsLst>
              <a:gs pos="0">
                <a:srgbClr val="1B5E8A"/>
              </a:gs>
              <a:gs pos="50000">
                <a:srgbClr val="E8792B"/>
              </a:gs>
              <a:gs pos="100000">
                <a:srgbClr val="2E8B57"/>
              </a:gs>
            </a:gsLst>
            <a:lin ang="0" scaled="1"/>
          </a:gra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6914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744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3A4A5C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3A4A5C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3A4A5C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3A4A5C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2650B7-E8E1-454D-555A-80475AD04D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3500" y="762000"/>
            <a:ext cx="1905000" cy="1905000"/>
          </a:xfrm>
          <a:prstGeom prst="rect">
            <a:avLst/>
          </a:prstGeom>
        </p:spPr>
      </p:pic>
      <p:sp>
        <p:nvSpPr>
          <p:cNvPr id="10" name="Title"/>
          <p:cNvSpPr txBox="1"/>
          <p:nvPr/>
        </p:nvSpPr>
        <p:spPr>
          <a:xfrm>
            <a:off x="914400" y="3200400"/>
            <a:ext cx="103632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2800" b="1" spc="400" dirty="0">
                <a:solidFill>
                  <a:srgbClr val="FFFFFF"/>
                </a:solidFill>
                <a:latin typeface="Montserrat"/>
              </a:rPr>
              <a:t>GESTIÓN INTEGRAL DE INSTALACIONES</a:t>
            </a:r>
          </a:p>
        </p:txBody>
      </p:sp>
      <p:sp>
        <p:nvSpPr>
          <p:cNvPr id="11" name="Subtitle"/>
          <p:cNvSpPr txBox="1"/>
          <p:nvPr/>
        </p:nvSpPr>
        <p:spPr>
          <a:xfrm>
            <a:off x="1828800" y="41148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800" spc="200" dirty="0">
                <a:solidFill>
                  <a:srgbClr val="E8792B"/>
                </a:solidFill>
                <a:latin typeface="Open Sans"/>
              </a:rPr>
              <a:t>Socia en la gestión de sus instalaciones</a:t>
            </a:r>
          </a:p>
        </p:txBody>
      </p:sp>
      <p:sp>
        <p:nvSpPr>
          <p:cNvPr id="12" name="Line"/>
          <p:cNvSpPr/>
          <p:nvPr/>
        </p:nvSpPr>
        <p:spPr>
          <a:xfrm>
            <a:off x="4572000" y="4000500"/>
            <a:ext cx="3048000" cy="0"/>
          </a:xfrm>
          <a:prstGeom prst="line">
            <a:avLst/>
          </a:prstGeom>
          <a:ln w="19050">
            <a:solidFill>
              <a:srgbClr val="E8792B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13" name="BottomInfo"/>
          <p:cNvSpPr txBox="1"/>
          <p:nvPr/>
        </p:nvSpPr>
        <p:spPr>
          <a:xfrm>
            <a:off x="2743200" y="4800600"/>
            <a:ext cx="6705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400" spc="150" dirty="0">
                <a:solidFill>
                  <a:srgbClr val="8899AA"/>
                </a:solidFill>
                <a:latin typeface="Open Sans"/>
              </a:rPr>
              <a:t>Presentación Corporativa</a:t>
            </a:r>
          </a:p>
        </p:txBody>
      </p:sp>
    </p:spTree>
    <p:extLst>
      <p:ext uri="{BB962C8B-B14F-4D97-AF65-F5344CB8AC3E}">
        <p14:creationId xmlns:p14="http://schemas.microsoft.com/office/powerpoint/2010/main" val="15811260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C0B16C-7E9C-3060-DD3B-06282DA0F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Quiénes somos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93BB7D7-0131-BBB1-987D-248915C71D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600" b="1" dirty="0">
                <a:solidFill>
                  <a:srgbClr val="1B5E8A"/>
                </a:solidFill>
              </a:rPr>
              <a:t>GEINSTAL es una empresa familiar fundada en 1994</a:t>
            </a:r>
            <a:r>
              <a:rPr lang="es-ES" sz="1600" dirty="0">
                <a:solidFill>
                  <a:srgbClr val="3A4A5C"/>
                </a:solidFill>
              </a:rPr>
              <a:t>, con reconocido prestigio en el sector del mantenimiento y en la ejecución de instalaciones electromecánicas.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3A4A5C"/>
                </a:solidFill>
              </a:rPr>
              <a:t>Nuestro equipo técnico tiene una dilatada experiencia en la ejecución de proyectos, implantación de servicios de mantenimientos técnicos y en la gestión de operaciones para conseguir el máximo rendimiento de las instalaciones de la forma más eficiente posible.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3A4A5C"/>
                </a:solidFill>
              </a:rPr>
              <a:t>Nuestro valor añadido radica en nuestra cultura, cuyos pilares son el </a:t>
            </a:r>
            <a:r>
              <a:rPr lang="es-ES" sz="1600" b="1" dirty="0">
                <a:solidFill>
                  <a:srgbClr val="1B5E8A"/>
                </a:solidFill>
              </a:rPr>
              <a:t>espíritu de servicio</a:t>
            </a:r>
            <a:r>
              <a:rPr lang="es-ES" sz="1600" dirty="0">
                <a:solidFill>
                  <a:srgbClr val="3A4A5C"/>
                </a:solidFill>
              </a:rPr>
              <a:t>, el </a:t>
            </a:r>
            <a:r>
              <a:rPr lang="es-ES" sz="1600" b="1" dirty="0">
                <a:solidFill>
                  <a:srgbClr val="1B5E8A"/>
                </a:solidFill>
              </a:rPr>
              <a:t>compromiso</a:t>
            </a:r>
            <a:r>
              <a:rPr lang="es-ES" sz="1600" dirty="0">
                <a:solidFill>
                  <a:srgbClr val="3A4A5C"/>
                </a:solidFill>
              </a:rPr>
              <a:t> ante nuestros clientes, el desarrollo de las personas y la búsqueda de la </a:t>
            </a:r>
            <a:r>
              <a:rPr lang="es-ES" sz="1600" b="1" dirty="0">
                <a:solidFill>
                  <a:srgbClr val="1B5E8A"/>
                </a:solidFill>
              </a:rPr>
              <a:t>mejora continua</a:t>
            </a:r>
            <a:r>
              <a:rPr lang="es-ES" sz="1600" dirty="0">
                <a:solidFill>
                  <a:srgbClr val="3A4A5C"/>
                </a:solidFill>
              </a:rPr>
              <a:t>.</a:t>
            </a:r>
          </a:p>
          <a:p>
            <a:pPr marL="0" indent="0">
              <a:buNone/>
            </a:pPr>
            <a:r>
              <a:rPr lang="es-ES" sz="1600" dirty="0">
                <a:solidFill>
                  <a:srgbClr val="3A4A5C"/>
                </a:solidFill>
              </a:rPr>
              <a:t>Actualmente, GEINSTAL está inmersa en un plan estratégico con dos grandes objetivos: el desarrollo de servicios de alto valor añadido y el crecimiento en los mercados de referencia del sector.</a:t>
            </a:r>
          </a:p>
        </p:txBody>
      </p:sp>
      <p:sp>
        <p:nvSpPr>
          <p:cNvPr id="2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35556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6D2A18-5753-77A4-2843-970049E76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Nuestros servicios</a:t>
            </a:r>
          </a:p>
        </p:txBody>
      </p:sp>
      <p:sp>
        <p:nvSpPr>
          <p:cNvPr id="10" name="Subtitle"/>
          <p:cNvSpPr txBox="1"/>
          <p:nvPr/>
        </p:nvSpPr>
        <p:spPr>
          <a:xfrm>
            <a:off x="838200" y="16891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s-ES" sz="1600" dirty="0">
                <a:solidFill>
                  <a:srgbClr val="3A4A5C"/>
                </a:solidFill>
              </a:rPr>
              <a:t>La excelencia es nuestro principal objetivo</a:t>
            </a:r>
          </a:p>
        </p:txBody>
      </p:sp>
      <p:sp>
        <p:nvSpPr>
          <p:cNvPr id="30" name="CardLeft"/>
          <p:cNvSpPr/>
          <p:nvPr/>
        </p:nvSpPr>
        <p:spPr>
          <a:xfrm>
            <a:off x="838200" y="2133600"/>
            <a:ext cx="4876800" cy="3810000"/>
          </a:xfrm>
          <a:prstGeom prst="roundRect">
            <a:avLst>
              <a:gd name="adj" fmla="val 3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s-ES" sz="2200" b="1" dirty="0">
                <a:solidFill>
                  <a:srgbClr val="1B5E8A"/>
                </a:solidFill>
              </a:rPr>
              <a:t>Mantenimiento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Ofrecemos servicios técnicos mediante metodologías de valor añadido para garantizar el óptimo funcionamiento de sus instalaciones atendiendo a criterios de: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Confort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Eficiencia energética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Continuidad de negocio</a:t>
            </a:r>
          </a:p>
        </p:txBody>
      </p:sp>
      <p:sp>
        <p:nvSpPr>
          <p:cNvPr id="31" name="CardRight"/>
          <p:cNvSpPr/>
          <p:nvPr/>
        </p:nvSpPr>
        <p:spPr>
          <a:xfrm>
            <a:off x="6019800" y="2133600"/>
            <a:ext cx="4876800" cy="3810000"/>
          </a:xfrm>
          <a:prstGeom prst="roundRect">
            <a:avLst>
              <a:gd name="adj" fmla="val 3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182880" rIns="182880" bIns="91440" anchor="t"/>
          <a:lstStyle/>
          <a:p>
            <a:pPr algn="l">
              <a:buNone/>
            </a:pPr>
            <a:r>
              <a:rPr lang="es-ES" sz="2200" b="1" dirty="0">
                <a:solidFill>
                  <a:srgbClr val="E8792B"/>
                </a:solidFill>
              </a:rPr>
              <a:t>Instalaciones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Empresa experta en la ejecución de cualquier tipo de instalaciones, tanto de infraestructura como de proceso: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Concepción y diseño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Ejecución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Puesta en funcionamiento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Certificación</a:t>
            </a:r>
          </a:p>
        </p:txBody>
      </p:sp>
      <p:sp>
        <p:nvSpPr>
          <p:cNvPr id="32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3536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662335-45E6-E857-D3FD-A2EACD79B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Nuestras especialidades</a:t>
            </a:r>
          </a:p>
        </p:txBody>
      </p:sp>
      <p:sp>
        <p:nvSpPr>
          <p:cNvPr id="50" name="Spec0"/>
          <p:cNvSpPr/>
          <p:nvPr/>
        </p:nvSpPr>
        <p:spPr>
          <a:xfrm>
            <a:off x="60960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B5E8A"/>
                </a:solidFill>
              </a:rPr>
              <a:t>Climatización, frío y calor</a:t>
            </a:r>
          </a:p>
        </p:txBody>
      </p:sp>
      <p:sp>
        <p:nvSpPr>
          <p:cNvPr id="51" name="Spec1"/>
          <p:cNvSpPr/>
          <p:nvPr/>
        </p:nvSpPr>
        <p:spPr>
          <a:xfrm>
            <a:off x="338328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B85A1A"/>
                </a:solidFill>
              </a:rPr>
              <a:t>Calefacción</a:t>
            </a:r>
          </a:p>
        </p:txBody>
      </p:sp>
      <p:sp>
        <p:nvSpPr>
          <p:cNvPr id="52" name="Spec2"/>
          <p:cNvSpPr/>
          <p:nvPr/>
        </p:nvSpPr>
        <p:spPr>
          <a:xfrm>
            <a:off x="615696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3C"/>
                </a:solidFill>
              </a:rPr>
              <a:t>Regulación y control</a:t>
            </a:r>
          </a:p>
        </p:txBody>
      </p:sp>
      <p:sp>
        <p:nvSpPr>
          <p:cNvPr id="53" name="Spec3"/>
          <p:cNvSpPr/>
          <p:nvPr/>
        </p:nvSpPr>
        <p:spPr>
          <a:xfrm>
            <a:off x="893064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9A"/>
                </a:solidFill>
              </a:rPr>
              <a:t>CPD</a:t>
            </a:r>
          </a:p>
        </p:txBody>
      </p:sp>
      <p:sp>
        <p:nvSpPr>
          <p:cNvPr id="54" name="Spec4"/>
          <p:cNvSpPr/>
          <p:nvPr/>
        </p:nvSpPr>
        <p:spPr>
          <a:xfrm>
            <a:off x="60960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B5E8A"/>
                </a:solidFill>
              </a:rPr>
              <a:t>Electricidad</a:t>
            </a:r>
          </a:p>
        </p:txBody>
      </p:sp>
      <p:sp>
        <p:nvSpPr>
          <p:cNvPr id="55" name="Spec5"/>
          <p:cNvSpPr/>
          <p:nvPr/>
        </p:nvSpPr>
        <p:spPr>
          <a:xfrm>
            <a:off x="338328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B85A1A"/>
                </a:solidFill>
              </a:rPr>
              <a:t>Asesoramiento energético</a:t>
            </a:r>
          </a:p>
        </p:txBody>
      </p:sp>
      <p:sp>
        <p:nvSpPr>
          <p:cNvPr id="56" name="Spec6"/>
          <p:cNvSpPr/>
          <p:nvPr/>
        </p:nvSpPr>
        <p:spPr>
          <a:xfrm>
            <a:off x="615696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3C"/>
                </a:solidFill>
              </a:rPr>
              <a:t>Fontanería y saneamiento</a:t>
            </a:r>
          </a:p>
        </p:txBody>
      </p:sp>
      <p:sp>
        <p:nvSpPr>
          <p:cNvPr id="57" name="Spec7"/>
          <p:cNvSpPr/>
          <p:nvPr/>
        </p:nvSpPr>
        <p:spPr>
          <a:xfrm>
            <a:off x="893064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9A"/>
                </a:solidFill>
              </a:rPr>
              <a:t>Gas</a:t>
            </a:r>
          </a:p>
        </p:txBody>
      </p:sp>
      <p:sp>
        <p:nvSpPr>
          <p:cNvPr id="58" name="Spec8"/>
          <p:cNvSpPr/>
          <p:nvPr/>
        </p:nvSpPr>
        <p:spPr>
          <a:xfrm>
            <a:off x="60960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B5E8A"/>
                </a:solidFill>
              </a:rPr>
              <a:t>Protección contra incendios</a:t>
            </a:r>
          </a:p>
        </p:txBody>
      </p:sp>
      <p:sp>
        <p:nvSpPr>
          <p:cNvPr id="59" name="Spec9"/>
          <p:cNvSpPr/>
          <p:nvPr/>
        </p:nvSpPr>
        <p:spPr>
          <a:xfrm>
            <a:off x="338328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B85A1A"/>
                </a:solidFill>
              </a:rPr>
              <a:t>Energías renovables</a:t>
            </a:r>
          </a:p>
        </p:txBody>
      </p:sp>
      <p:sp>
        <p:nvSpPr>
          <p:cNvPr id="60" name="Spec10"/>
          <p:cNvSpPr/>
          <p:nvPr/>
        </p:nvSpPr>
        <p:spPr>
          <a:xfrm>
            <a:off x="615696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3C"/>
                </a:solidFill>
              </a:rPr>
              <a:t>Telecomunicaciones</a:t>
            </a:r>
          </a:p>
        </p:txBody>
      </p:sp>
      <p:sp>
        <p:nvSpPr>
          <p:cNvPr id="61" name="Spec11"/>
          <p:cNvSpPr/>
          <p:nvPr/>
        </p:nvSpPr>
        <p:spPr>
          <a:xfrm>
            <a:off x="893064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1A6B9A"/>
                </a:solidFill>
              </a:rPr>
              <a:t>Seguridad</a:t>
            </a:r>
          </a:p>
        </p:txBody>
      </p:sp>
      <p:sp>
        <p:nvSpPr>
          <p:cNvPr id="7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829793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CF1BB91-B6FF-5A88-9AFA-C8A2F0FCD9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Sectores de actividad</a:t>
            </a:r>
          </a:p>
        </p:txBody>
      </p:sp>
      <p:sp>
        <p:nvSpPr>
          <p:cNvPr id="50" name="Sector0"/>
          <p:cNvSpPr/>
          <p:nvPr/>
        </p:nvSpPr>
        <p:spPr>
          <a:xfrm>
            <a:off x="60960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Sedes corporativas</a:t>
            </a:r>
          </a:p>
        </p:txBody>
      </p:sp>
      <p:sp>
        <p:nvSpPr>
          <p:cNvPr id="52" name="Sector1"/>
          <p:cNvSpPr/>
          <p:nvPr/>
        </p:nvSpPr>
        <p:spPr>
          <a:xfrm>
            <a:off x="338328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Edificios administración</a:t>
            </a:r>
          </a:p>
        </p:txBody>
      </p:sp>
      <p:sp>
        <p:nvSpPr>
          <p:cNvPr id="54" name="Sector2"/>
          <p:cNvSpPr/>
          <p:nvPr/>
        </p:nvSpPr>
        <p:spPr>
          <a:xfrm>
            <a:off x="615696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Hospitales y centros médicos</a:t>
            </a:r>
          </a:p>
        </p:txBody>
      </p:sp>
      <p:sp>
        <p:nvSpPr>
          <p:cNvPr id="56" name="Sector3"/>
          <p:cNvSpPr/>
          <p:nvPr/>
        </p:nvSpPr>
        <p:spPr>
          <a:xfrm>
            <a:off x="8930640" y="177800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Universidades y centros formativos</a:t>
            </a:r>
          </a:p>
        </p:txBody>
      </p:sp>
      <p:sp>
        <p:nvSpPr>
          <p:cNvPr id="58" name="Sector4"/>
          <p:cNvSpPr/>
          <p:nvPr/>
        </p:nvSpPr>
        <p:spPr>
          <a:xfrm>
            <a:off x="60960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Industria</a:t>
            </a:r>
          </a:p>
        </p:txBody>
      </p:sp>
      <p:sp>
        <p:nvSpPr>
          <p:cNvPr id="60" name="Sector5"/>
          <p:cNvSpPr/>
          <p:nvPr/>
        </p:nvSpPr>
        <p:spPr>
          <a:xfrm>
            <a:off x="338328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Data Centers</a:t>
            </a:r>
          </a:p>
        </p:txBody>
      </p:sp>
      <p:sp>
        <p:nvSpPr>
          <p:cNvPr id="62" name="Sector6"/>
          <p:cNvSpPr/>
          <p:nvPr/>
        </p:nvSpPr>
        <p:spPr>
          <a:xfrm>
            <a:off x="615696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Hoteles</a:t>
            </a:r>
          </a:p>
        </p:txBody>
      </p:sp>
      <p:sp>
        <p:nvSpPr>
          <p:cNvPr id="64" name="Sector7"/>
          <p:cNvSpPr/>
          <p:nvPr/>
        </p:nvSpPr>
        <p:spPr>
          <a:xfrm>
            <a:off x="8930640" y="310388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Residencias</a:t>
            </a:r>
          </a:p>
        </p:txBody>
      </p:sp>
      <p:sp>
        <p:nvSpPr>
          <p:cNvPr id="66" name="Sector8"/>
          <p:cNvSpPr/>
          <p:nvPr/>
        </p:nvSpPr>
        <p:spPr>
          <a:xfrm>
            <a:off x="60960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B5E8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Museos y centros de exposición</a:t>
            </a:r>
          </a:p>
        </p:txBody>
      </p:sp>
      <p:sp>
        <p:nvSpPr>
          <p:cNvPr id="68" name="Sector9"/>
          <p:cNvSpPr/>
          <p:nvPr/>
        </p:nvSpPr>
        <p:spPr>
          <a:xfrm>
            <a:off x="338328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B85A1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Centros comerciales</a:t>
            </a:r>
          </a:p>
        </p:txBody>
      </p:sp>
      <p:sp>
        <p:nvSpPr>
          <p:cNvPr id="70" name="Sector10"/>
          <p:cNvSpPr/>
          <p:nvPr/>
        </p:nvSpPr>
        <p:spPr>
          <a:xfrm>
            <a:off x="615696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3C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Edificios históricos y singulares</a:t>
            </a:r>
          </a:p>
        </p:txBody>
      </p:sp>
      <p:sp>
        <p:nvSpPr>
          <p:cNvPr id="72" name="Sector11"/>
          <p:cNvSpPr/>
          <p:nvPr/>
        </p:nvSpPr>
        <p:spPr>
          <a:xfrm>
            <a:off x="8930640" y="4429760"/>
            <a:ext cx="2590800" cy="1143000"/>
          </a:xfrm>
          <a:prstGeom prst="roundRect">
            <a:avLst>
              <a:gd name="adj" fmla="val 5000"/>
            </a:avLst>
          </a:prstGeom>
          <a:solidFill>
            <a:srgbClr val="1A6B9A"/>
          </a:solidFill>
          <a:ln w="0">
            <a:noFill/>
          </a:ln>
        </p:spPr>
        <p:txBody>
          <a:bodyPr wrap="square" lIns="91440" tIns="45720" rIns="91440" bIns="45720" anchor="ctr"/>
          <a:lstStyle/>
          <a:p>
            <a:pPr algn="ctr">
              <a:buNone/>
            </a:pPr>
            <a:r>
              <a:rPr lang="es-ES" sz="1400" b="1" dirty="0">
                <a:solidFill>
                  <a:srgbClr val="FFFFFF"/>
                </a:solidFill>
              </a:rPr>
              <a:t>Centros tecnológicos y laboratorios</a:t>
            </a:r>
          </a:p>
        </p:txBody>
      </p:sp>
      <p:sp>
        <p:nvSpPr>
          <p:cNvPr id="80" name="SubSectores"/>
          <p:cNvSpPr txBox="1"/>
          <p:nvPr/>
        </p:nvSpPr>
        <p:spPr>
          <a:xfrm>
            <a:off x="838200" y="1714500"/>
            <a:ext cx="105156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s-ES" sz="1600" dirty="0">
                <a:solidFill>
                  <a:srgbClr val="3A4A5C"/>
                </a:solidFill>
              </a:rPr>
              <a:t>Somos expertos en múltiples sectores</a:t>
            </a:r>
          </a:p>
        </p:txBody>
      </p:sp>
      <p:sp>
        <p:nvSpPr>
          <p:cNvPr id="81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34965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4B37C7-8B30-A4DB-6896-8856CBFB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Proyectos destacados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5D96EE4-B761-DD62-ECF7-BC6F1751C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ES" sz="1500" b="1" dirty="0">
                <a:solidFill>
                  <a:srgbClr val="1B5E8A"/>
                </a:solidFill>
              </a:rPr>
              <a:t>Sanidad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Hospital Universitari de Bellvitge · Hospital Vall d’Hebron · Hospital Germans Trias i Pujol · Hospital de la Santa Creu i Sant Pau · Consorci Hospitalari de Vic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E8792B"/>
                </a:solidFill>
              </a:rPr>
              <a:t>Cultura y educación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CCCB · Monestir de Pedralbes · Universitat Internacional de Catalunya · U.A.B. · Tecnocampus · Fundación Gimbernat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2E8B57"/>
                </a:solidFill>
              </a:rPr>
              <a:t>Infraestructuras y servicios públicos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AENA T2 · ENAIRE Centro Control Tráfico Aéreo · Ayto. de Barcelona · Mossos d’Esquadra – Sabadell · Fira de Barcelona · Mercabarna</a:t>
            </a:r>
          </a:p>
          <a:p>
            <a:pPr marL="0" indent="0">
              <a:buNone/>
            </a:pPr>
            <a:r>
              <a:rPr lang="es-ES" sz="1500" b="1" dirty="0">
                <a:solidFill>
                  <a:srgbClr val="3498DB"/>
                </a:solidFill>
              </a:rPr>
              <a:t>Sector privado</a:t>
            </a:r>
          </a:p>
          <a:p>
            <a:pPr marL="342900" indent="-342900">
              <a:buFont typeface="Arial"/>
              <a:buChar char="•"/>
            </a:pPr>
            <a:r>
              <a:rPr lang="es-ES" sz="1400" dirty="0">
                <a:solidFill>
                  <a:srgbClr val="3A4A5C"/>
                </a:solidFill>
              </a:rPr>
              <a:t>IDIADA · Mango · Alcampo · Paddock Sabadell · One Ocean Port Vell · Aprosa</a:t>
            </a:r>
          </a:p>
        </p:txBody>
      </p:sp>
      <p:sp>
        <p:nvSpPr>
          <p:cNvPr id="2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7564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838200" y="36576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3200" b="1" dirty="0">
                <a:solidFill>
                  <a:srgbClr val="FFFFFF"/>
                </a:solidFill>
              </a:rPr>
              <a:t>GEINSTAL en cifras</a:t>
            </a:r>
          </a:p>
        </p:txBody>
      </p:sp>
      <p:sp>
        <p:nvSpPr>
          <p:cNvPr id="20" name="KPI0"/>
          <p:cNvSpPr/>
          <p:nvPr/>
        </p:nvSpPr>
        <p:spPr>
          <a:xfrm>
            <a:off x="60960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E8792B"/>
                </a:solidFill>
              </a:rPr>
              <a:t>4.230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Instalaciones</a:t>
            </a:r>
          </a:p>
        </p:txBody>
      </p:sp>
      <p:sp>
        <p:nvSpPr>
          <p:cNvPr id="21" name="KPI1"/>
          <p:cNvSpPr/>
          <p:nvPr/>
        </p:nvSpPr>
        <p:spPr>
          <a:xfrm>
            <a:off x="332232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1B5E8A"/>
                </a:solidFill>
              </a:rPr>
              <a:t>623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Clientes</a:t>
            </a:r>
          </a:p>
        </p:txBody>
      </p:sp>
      <p:sp>
        <p:nvSpPr>
          <p:cNvPr id="22" name="KPI2"/>
          <p:cNvSpPr/>
          <p:nvPr/>
        </p:nvSpPr>
        <p:spPr>
          <a:xfrm>
            <a:off x="603504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2E8B57"/>
                </a:solidFill>
              </a:rPr>
              <a:t>305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Plantilla</a:t>
            </a:r>
          </a:p>
        </p:txBody>
      </p:sp>
      <p:sp>
        <p:nvSpPr>
          <p:cNvPr id="23" name="KPI3"/>
          <p:cNvSpPr/>
          <p:nvPr/>
        </p:nvSpPr>
        <p:spPr>
          <a:xfrm>
            <a:off x="8747760" y="2133600"/>
            <a:ext cx="2438400" cy="3429000"/>
          </a:xfrm>
          <a:prstGeom prst="roundRect">
            <a:avLst>
              <a:gd name="adj" fmla="val 5000"/>
            </a:avLst>
          </a:prstGeom>
          <a:solidFill>
            <a:srgbClr val="FFFFFF">
              <a:alpha val="12000"/>
            </a:srgbClr>
          </a:solidFill>
          <a:ln w="0">
            <a:noFill/>
          </a:ln>
        </p:spPr>
        <p:txBody>
          <a:bodyPr wrap="square" lIns="91440" tIns="91440" rIns="91440" bIns="91440" anchor="ctr"/>
          <a:lstStyle/>
          <a:p>
            <a:pPr algn="ctr">
              <a:buNone/>
            </a:pPr>
            <a:r>
              <a:rPr lang="es-ES" sz="4400" b="1" dirty="0">
                <a:solidFill>
                  <a:srgbClr val="3498DB"/>
                </a:solidFill>
              </a:rPr>
              <a:t>45</a:t>
            </a:r>
          </a:p>
          <a:p>
            <a:pPr algn="ctr">
              <a:buNone/>
            </a:pPr>
            <a:r>
              <a:rPr lang="es-ES" sz="1800" dirty="0">
                <a:solidFill>
                  <a:srgbClr val="FFFFFF"/>
                </a:solidFill>
              </a:rPr>
              <a:t>Equipo de ingeniería</a:t>
            </a:r>
          </a:p>
        </p:txBody>
      </p:sp>
      <p:sp>
        <p:nvSpPr>
          <p:cNvPr id="30" name="Sub"/>
          <p:cNvSpPr txBox="1"/>
          <p:nvPr/>
        </p:nvSpPr>
        <p:spPr>
          <a:xfrm>
            <a:off x="1828800" y="1143000"/>
            <a:ext cx="85344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600" dirty="0">
                <a:solidFill>
                  <a:srgbClr val="8899AA"/>
                </a:solidFill>
              </a:rPr>
              <a:t>Más de 30 años de experiencia avalan nuestra trayectoria</a:t>
            </a:r>
          </a:p>
        </p:txBody>
      </p:sp>
    </p:spTree>
    <p:extLst>
      <p:ext uri="{BB962C8B-B14F-4D97-AF65-F5344CB8AC3E}">
        <p14:creationId xmlns:p14="http://schemas.microsoft.com/office/powerpoint/2010/main" val="18484946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B10C03-BD7A-835F-5D18-CA7E857BC3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es-ES" sz="3200" b="1" dirty="0">
                <a:solidFill>
                  <a:srgbClr val="1A2744"/>
                </a:solidFill>
              </a:rPr>
              <a:t>Valores y certificaciones</a:t>
            </a:r>
          </a:p>
        </p:txBody>
      </p:sp>
      <p:sp>
        <p:nvSpPr>
          <p:cNvPr id="30" name="Valores"/>
          <p:cNvSpPr txBox="1"/>
          <p:nvPr/>
        </p:nvSpPr>
        <p:spPr>
          <a:xfrm>
            <a:off x="838200" y="17526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l">
              <a:buNone/>
            </a:pPr>
            <a:r>
              <a:rPr lang="es-ES" sz="2000" b="1" dirty="0">
                <a:solidFill>
                  <a:srgbClr val="1B5E8A"/>
                </a:solidFill>
              </a:rPr>
              <a:t>Nuestra política empresarial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Confianza y respeto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Honestidad e integridad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Profesionalidad y eficacia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Responsabilidad social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Compromiso medioambiental</a:t>
            </a:r>
          </a:p>
          <a:p>
            <a:pPr marL="342900" indent="-342900">
              <a:buFont typeface="Arial"/>
              <a:buChar char="•"/>
            </a:pPr>
            <a:r>
              <a:rPr lang="es-ES" sz="1500" dirty="0">
                <a:solidFill>
                  <a:srgbClr val="3A4A5C"/>
                </a:solidFill>
              </a:rPr>
              <a:t>Mejora continua</a:t>
            </a:r>
          </a:p>
        </p:txBody>
      </p:sp>
      <p:sp>
        <p:nvSpPr>
          <p:cNvPr id="40" name="Cert0"/>
          <p:cNvSpPr/>
          <p:nvPr/>
        </p:nvSpPr>
        <p:spPr>
          <a:xfrm>
            <a:off x="6324600" y="1752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1B5E8A"/>
                </a:solidFill>
              </a:rPr>
              <a:t>ISO 9001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Gestión de Calidad</a:t>
            </a:r>
          </a:p>
        </p:txBody>
      </p:sp>
      <p:sp>
        <p:nvSpPr>
          <p:cNvPr id="41" name="Cert1"/>
          <p:cNvSpPr/>
          <p:nvPr/>
        </p:nvSpPr>
        <p:spPr>
          <a:xfrm>
            <a:off x="6324600" y="2895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2E8B57"/>
                </a:solidFill>
              </a:rPr>
              <a:t>ISO 14001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Gestión Medioambiental</a:t>
            </a:r>
          </a:p>
        </p:txBody>
      </p:sp>
      <p:sp>
        <p:nvSpPr>
          <p:cNvPr id="42" name="Cert2"/>
          <p:cNvSpPr/>
          <p:nvPr/>
        </p:nvSpPr>
        <p:spPr>
          <a:xfrm>
            <a:off x="6324600" y="4038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E8792B"/>
                </a:solidFill>
              </a:rPr>
              <a:t>ISO 50001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Gestión Energética</a:t>
            </a:r>
          </a:p>
        </p:txBody>
      </p:sp>
      <p:sp>
        <p:nvSpPr>
          <p:cNvPr id="43" name="Cert3"/>
          <p:cNvSpPr/>
          <p:nvPr/>
        </p:nvSpPr>
        <p:spPr>
          <a:xfrm>
            <a:off x="6324600" y="5181600"/>
            <a:ext cx="4876800" cy="1005840"/>
          </a:xfrm>
          <a:prstGeom prst="roundRect">
            <a:avLst>
              <a:gd name="adj" fmla="val 5000"/>
            </a:avLst>
          </a:prstGeom>
          <a:solidFill>
            <a:srgbClr val="F0F3F7"/>
          </a:solidFill>
          <a:ln w="0">
            <a:noFill/>
          </a:ln>
        </p:spPr>
        <p:txBody>
          <a:bodyPr wrap="square" lIns="182880" tIns="45720" rIns="91440" bIns="45720" anchor="ctr"/>
          <a:lstStyle/>
          <a:p>
            <a:pPr algn="l">
              <a:buNone/>
            </a:pPr>
            <a:r>
              <a:rPr lang="es-ES" sz="1800" b="1" dirty="0">
                <a:solidFill>
                  <a:srgbClr val="3498DB"/>
                </a:solidFill>
              </a:rPr>
              <a:t>OHSAS 18001</a:t>
            </a:r>
          </a:p>
          <a:p>
            <a:pPr algn="l">
              <a:buNone/>
            </a:pPr>
            <a:r>
              <a:rPr lang="es-ES" sz="1400" dirty="0">
                <a:solidFill>
                  <a:srgbClr val="3A4A5C"/>
                </a:solidFill>
              </a:rPr>
              <a:t>Seguridad y Salud</a:t>
            </a:r>
          </a:p>
        </p:txBody>
      </p:sp>
      <p:sp>
        <p:nvSpPr>
          <p:cNvPr id="50" name="AccentLeft"/>
          <p:cNvSpPr/>
          <p:nvPr/>
        </p:nvSpPr>
        <p:spPr>
          <a:xfrm>
            <a:off x="0" y="365760"/>
            <a:ext cx="91440" cy="1310640"/>
          </a:xfrm>
          <a:prstGeom prst="rect">
            <a:avLst/>
          </a:prstGeom>
          <a:solidFill>
            <a:srgbClr val="E8792B"/>
          </a:solidFill>
          <a:ln w="0">
            <a:noFill/>
          </a:ln>
        </p:spPr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1233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841"/>
            </a:gs>
            <a:gs pos="100000">
              <a:srgbClr val="1A3A5C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 txBox="1"/>
          <p:nvPr/>
        </p:nvSpPr>
        <p:spPr>
          <a:xfrm>
            <a:off x="838200" y="457200"/>
            <a:ext cx="105156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3600" b="1" dirty="0">
                <a:solidFill>
                  <a:srgbClr val="FFFFFF"/>
                </a:solidFill>
              </a:rPr>
              <a:t>Contacto</a:t>
            </a:r>
          </a:p>
        </p:txBody>
      </p:sp>
      <p:sp>
        <p:nvSpPr>
          <p:cNvPr id="11" name="Line"/>
          <p:cNvSpPr/>
          <p:nvPr/>
        </p:nvSpPr>
        <p:spPr>
          <a:xfrm>
            <a:off x="4572000" y="1295400"/>
            <a:ext cx="3048000" cy="0"/>
          </a:xfrm>
          <a:prstGeom prst="line">
            <a:avLst/>
          </a:prstGeom>
          <a:ln w="19050">
            <a:solidFill>
              <a:srgbClr val="E8792B"/>
            </a:solidFill>
          </a:ln>
        </p:spPr>
        <p:txBody>
          <a:bodyPr/>
          <a:lstStyle/>
          <a:p>
            <a:endParaRPr lang="es-ES"/>
          </a:p>
        </p:txBody>
      </p:sp>
      <p:sp>
        <p:nvSpPr>
          <p:cNvPr id="20" name="ContactInfo"/>
          <p:cNvSpPr txBox="1"/>
          <p:nvPr/>
        </p:nvSpPr>
        <p:spPr>
          <a:xfrm>
            <a:off x="2286000" y="1600200"/>
            <a:ext cx="7620000" cy="36576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es-ES" sz="1800" b="1" dirty="0">
                <a:solidFill>
                  <a:srgbClr val="E8792B"/>
                </a:solidFill>
              </a:rPr>
              <a:t>Edificio CUBIC Sant Cugat</a:t>
            </a:r>
          </a:p>
          <a:p>
            <a:pPr algn="ctr">
              <a:buNone/>
            </a:pPr>
            <a:r>
              <a:rPr lang="es-ES" sz="1600" dirty="0">
                <a:solidFill>
                  <a:srgbClr val="C0CCD8"/>
                </a:solidFill>
              </a:rPr>
              <a:t>Av. Alcalde Barnils, 72 · 1ª Planta</a:t>
            </a:r>
          </a:p>
          <a:p>
            <a:pPr algn="ctr">
              <a:buNone/>
            </a:pPr>
            <a:r>
              <a:rPr lang="es-ES" sz="1600" dirty="0">
                <a:solidFill>
                  <a:srgbClr val="C0CCD8"/>
                </a:solidFill>
              </a:rPr>
              <a:t>Parc Empresarial Can Sant Joan</a:t>
            </a:r>
          </a:p>
          <a:p>
            <a:pPr algn="ctr">
              <a:buNone/>
            </a:pPr>
            <a:r>
              <a:rPr lang="es-ES" sz="1600" dirty="0">
                <a:solidFill>
                  <a:srgbClr val="C0CCD8"/>
                </a:solidFill>
              </a:rPr>
              <a:t>08174 – Sant Cugat del Vallès, Barcelona</a:t>
            </a:r>
          </a:p>
          <a:p>
            <a:pPr algn="ctr">
              <a:buNone/>
            </a:pPr>
            <a:r>
              <a:rPr lang="es-ES" sz="2000" b="1" dirty="0">
                <a:solidFill>
                  <a:srgbClr val="FFFFFF"/>
                </a:solidFill>
              </a:rPr>
              <a:t>93 454 15 00</a:t>
            </a:r>
          </a:p>
          <a:p>
            <a:pPr algn="ctr">
              <a:buNone/>
            </a:pPr>
            <a:r>
              <a:rPr lang="es-ES" sz="1600" dirty="0">
                <a:solidFill>
                  <a:srgbClr val="E8792B"/>
                </a:solidFill>
              </a:rPr>
              <a:t>geinstal@geinstal.com</a:t>
            </a:r>
          </a:p>
          <a:p>
            <a:pPr algn="ctr">
              <a:buNone/>
            </a:pPr>
            <a:r>
              <a:rPr lang="es-ES" sz="1600" dirty="0">
                <a:solidFill>
                  <a:srgbClr val="8899AA"/>
                </a:solidFill>
              </a:rPr>
              <a:t>www.geinstal.com</a:t>
            </a:r>
          </a:p>
          <a:p>
            <a:pPr algn="ctr">
              <a:buNone/>
            </a:pPr>
            <a:r>
              <a:rPr lang="es-ES" sz="1600" dirty="0">
                <a:solidFill>
                  <a:srgbClr val="8899AA"/>
                </a:solidFill>
              </a:rPr>
              <a:t>LinkedIn: geinstal-s-l-</a:t>
            </a:r>
          </a:p>
        </p:txBody>
      </p:sp>
      <p:sp>
        <p:nvSpPr>
          <p:cNvPr id="25" name="Tagline"/>
          <p:cNvSpPr txBox="1"/>
          <p:nvPr/>
        </p:nvSpPr>
        <p:spPr>
          <a:xfrm>
            <a:off x="2286000" y="5638800"/>
            <a:ext cx="76200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ctr"/>
          <a:lstStyle/>
          <a:p>
            <a:pPr algn="ctr">
              <a:buNone/>
            </a:pPr>
            <a:r>
              <a:rPr lang="es-ES" sz="1400" i="1" dirty="0">
                <a:solidFill>
                  <a:srgbClr val="8899AA"/>
                </a:solidFill>
              </a:rPr>
              <a:t>Socia en la gestión de sus instalaciones</a:t>
            </a:r>
          </a:p>
        </p:txBody>
      </p:sp>
    </p:spTree>
    <p:extLst>
      <p:ext uri="{BB962C8B-B14F-4D97-AF65-F5344CB8AC3E}">
        <p14:creationId xmlns:p14="http://schemas.microsoft.com/office/powerpoint/2010/main" val="9768468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 [1776360088343]">
  <a:themeElements>
    <a:clrScheme name="Office">
      <a:dk1>
        <a:srgbClr val="1A2744"/>
      </a:dk1>
      <a:lt1>
        <a:srgbClr val="FFFFFF"/>
      </a:lt1>
      <a:dk2>
        <a:srgbClr val="0E2841"/>
      </a:dk2>
      <a:lt2>
        <a:srgbClr val="F0F3F7"/>
      </a:lt2>
      <a:accent1>
        <a:srgbClr val="1B5E8A"/>
      </a:accent1>
      <a:accent2>
        <a:srgbClr val="E8792B"/>
      </a:accent2>
      <a:accent3>
        <a:srgbClr val="2E8B57"/>
      </a:accent3>
      <a:accent4>
        <a:srgbClr val="3498DB"/>
      </a:accent4>
      <a:accent5>
        <a:srgbClr val="8E44AD"/>
      </a:accent5>
      <a:accent6>
        <a:srgbClr val="27AE60"/>
      </a:accent6>
      <a:hlink>
        <a:srgbClr val="467886"/>
      </a:hlink>
      <a:folHlink>
        <a:srgbClr val="96607D"/>
      </a:folHlink>
    </a:clrScheme>
    <a:fontScheme name="Office">
      <a:majorFont>
        <a:latin typeface="Montserra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C647588-0552-654A-8E22-9884037E48A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fdd45cc7-3521-4489-a484-5c99305430a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490</Words>
  <Application>Microsoft Macintosh PowerPoint</Application>
  <PresentationFormat>Panorámica</PresentationFormat>
  <Paragraphs>93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3" baseType="lpstr">
      <vt:lpstr>Arial</vt:lpstr>
      <vt:lpstr>Montserrat</vt:lpstr>
      <vt:lpstr>Open Sans</vt:lpstr>
      <vt:lpstr>Tema de Office [1776360088343]</vt:lpstr>
      <vt:lpstr>Presentación de PowerPoint</vt:lpstr>
      <vt:lpstr>Quiénes somos</vt:lpstr>
      <vt:lpstr>Nuestros servicios</vt:lpstr>
      <vt:lpstr>Nuestras especialidades</vt:lpstr>
      <vt:lpstr>Sectores de actividad</vt:lpstr>
      <vt:lpstr>Proyectos destacados</vt:lpstr>
      <vt:lpstr>Presentación de PowerPoint</vt:lpstr>
      <vt:lpstr>Valores y certificaciones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Sevilla Guerra</dc:creator>
  <cp:lastModifiedBy>Daniel Sevilla Guerra</cp:lastModifiedBy>
  <cp:revision>2</cp:revision>
  <dcterms:created xsi:type="dcterms:W3CDTF">2026-04-16T17:17:23Z</dcterms:created>
  <dcterms:modified xsi:type="dcterms:W3CDTF">2026-04-16T17:30:54Z</dcterms:modified>
</cp:coreProperties>
</file>