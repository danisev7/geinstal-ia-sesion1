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91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299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59"/>
    <p:restoredTop sz="94658"/>
  </p:normalViewPr>
  <p:slideViewPr>
    <p:cSldViewPr snapToGrid="0">
      <p:cViewPr varScale="1">
        <p:scale>
          <a:sx n="86" d="100"/>
          <a:sy n="86" d="100"/>
        </p:scale>
        <p:origin x="248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3E14A-D6EA-BE25-8DC8-CD21CB5D1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6996CD-5E03-4BC7-B76E-DAF4F53300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82465C-239C-C53B-28F4-545C94BB9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18/4/26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9F7A8A-CF83-B827-66D0-C25F0A836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70A26C-684A-E33E-1F58-9BDA49CBE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51274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8EEA1E-B14D-CD05-2C48-C475BDFCC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312C69-CE4C-E55D-853A-A685C967D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86B891-188D-53D4-EF42-3120F96B5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18/4/26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D626E8-7B79-A6FE-54B4-BD929D4F6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F3B851-020C-479B-536F-F43D9AD97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1300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0F3CF7-F16A-FF3D-5B7D-66935CDA4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00E6DD-362E-F1E9-274E-36228819A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F46319-A661-5E2A-9E34-787D48D7F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18/4/26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900237-62B0-207E-40F5-049D1BCAE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A2AF35-EE6C-0E13-CECE-F7720F56E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68361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6967BB-0B66-0B21-8A8C-D56C3F2BD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32E05F-3F40-15BF-2D71-647DFD71D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F72096-2C24-924A-51A2-17BFB8EF22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7D0A96-2737-4A1C-34A6-72316F9DB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18/4/26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82A7E9E-FAF4-2162-BA2A-F5AE10C3C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B63963-74FB-D84F-7B37-2A4E963E7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75392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D37DC-8DFD-2CDD-F393-E61A06069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4F1A83-F7B6-D49E-FCB6-01413BDFD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0B331D4-83DA-13DC-0635-34DA2A422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B73F3DF-A872-3F10-E603-D94EBF7DF9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316019C-B07C-2932-247B-64F70B86B8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EA829AF-E23F-3527-FCBE-876C4ABB5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18/4/26</a:t>
            </a:fld>
            <a:endParaRPr lang="es-ES_tradn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127A985-3E50-757D-303E-025970A27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393702-5030-4217-79A3-F4DF96876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40744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F7890-1145-25F7-0C8C-D06E317F7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659FF9F-20D5-0E06-FEFA-EAD508308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18/4/26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4263300-0DBC-B4C3-A829-69A76E2B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C4533C4-6839-B60C-85C4-FB431D54E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95477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1E859C1-E918-29D7-0306-A0AF4FF4B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18/4/26</a:t>
            </a:fld>
            <a:endParaRPr lang="es-ES_tradn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4DE2125-8BF0-C43D-63EF-88450A56C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B59D722-2E04-002D-F885-D2AEB2429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4615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6A414D-7E50-98F1-AE7B-F557BF4AC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AC3404-5847-8D71-3162-624587CDB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3099863-CB68-12D2-2645-AD2F87966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F0C187-2CA3-FBC1-A7D0-9927B593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18/4/26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D90AD5-7993-2DA4-DCDC-996973816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89852A-94D2-33ED-8691-B34062E2A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51184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6EDC01-2A39-F77D-ACC9-0DA8EE440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9BD609A-C8BF-A2B0-9C16-DBB563ED6B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19FB860-9656-2806-D3DA-062B274AF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F67E83-9528-9968-C04B-310C95582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18/4/26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B190E0-0889-86DF-8A06-7820E6F12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1099405-9D7A-FCD5-9368-2410B3B5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62879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0EBCF6-608F-4B6D-74AB-C90B50E85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30FEC7E-C801-0AE0-54F7-5836A0FBA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3F6FA7-25C6-C691-EEE0-8F8711F56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18/4/26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BD3735-F171-7BAD-7840-544BB8E16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9F2205-9EEB-C5B3-9C6F-D022E5D61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34452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C633C8-A588-7A7A-9E8F-F2C4823DC9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0AC7C11-6C21-241E-6FD1-F6AA1CF537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3C409C-FBA8-2364-B3BD-E06066F1A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18/4/26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0E85E1-3747-B2EC-213F-E7EB40135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229D2A-6118-6503-C579-2FAE11E3E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90847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699A058-5B71-4380-198D-06FBD05F8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835FB5-180F-5DBB-C299-B997B0DBB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8882E2-CEDF-22FB-B832-214A3EB7E3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0FE3C5-8C00-A44E-BE71-D4E3B8DCAD0B}" type="datetimeFigureOut">
              <a:rPr lang="es-ES_tradnl" smtClean="0"/>
              <a:t>18/4/26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49881A-985B-1C6F-6BAC-8112EE24F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EAE7E2-2764-CB59-868D-96F6482FF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  <p:sp>
        <p:nvSpPr>
          <p:cNvPr id="900" name="AccentBar"/>
          <p:cNvSpPr/>
          <p:nvPr/>
        </p:nvSpPr>
        <p:spPr>
          <a:xfrm>
            <a:off x="0" y="6583050"/>
            <a:ext cx="12192000" cy="274320"/>
          </a:xfrm>
          <a:prstGeom prst="rect">
            <a:avLst/>
          </a:prstGeom>
          <a:gradFill>
            <a:gsLst>
              <a:gs pos="0">
                <a:srgbClr val="1B5E8A"/>
              </a:gs>
              <a:gs pos="50000">
                <a:srgbClr val="E8792B"/>
              </a:gs>
              <a:gs pos="100000">
                <a:srgbClr val="2E8B57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200" name="LogoMaster"/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369040" y="137160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914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2744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A4A5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A4A5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A4A5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A4A5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A4A5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A4A5C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A4A5C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A4A5C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A4A5C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E2841"/>
            </a:gs>
            <a:gs pos="100000">
              <a:srgbClr val="1A3A5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C2650B7-E8E1-454D-555A-80475AD04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762000"/>
            <a:ext cx="1905000" cy="1905000"/>
          </a:xfrm>
          <a:prstGeom prst="rect">
            <a:avLst/>
          </a:prstGeom>
        </p:spPr>
      </p:pic>
      <p:sp>
        <p:nvSpPr>
          <p:cNvPr id="10" name="Title"/>
          <p:cNvSpPr txBox="1"/>
          <p:nvPr/>
        </p:nvSpPr>
        <p:spPr>
          <a:xfrm>
            <a:off x="914400" y="32004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it-IT" sz="2800" b="1" spc="400" dirty="0">
                <a:solidFill>
                  <a:srgbClr val="FFFFFF"/>
                </a:solidFill>
                <a:latin typeface="Montserrat"/>
              </a:rPr>
              <a:t>GESTIONE INTEGRALE DI IMPIANTI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1828800" y="4114800"/>
            <a:ext cx="8534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it-IT" sz="1800" spc="200" dirty="0">
                <a:solidFill>
                  <a:srgbClr val="E8792B"/>
                </a:solidFill>
                <a:latin typeface="Open Sans"/>
              </a:rPr>
              <a:t>Partner nella gestione dei vostri impianti</a:t>
            </a:r>
          </a:p>
        </p:txBody>
      </p:sp>
      <p:sp>
        <p:nvSpPr>
          <p:cNvPr id="12" name="Line"/>
          <p:cNvSpPr/>
          <p:nvPr/>
        </p:nvSpPr>
        <p:spPr>
          <a:xfrm>
            <a:off x="4572000" y="4000500"/>
            <a:ext cx="3048000" cy="0"/>
          </a:xfrm>
          <a:prstGeom prst="line">
            <a:avLst/>
          </a:prstGeom>
          <a:ln w="19050">
            <a:solidFill>
              <a:srgbClr val="E8792B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3" name="BottomInfo"/>
          <p:cNvSpPr txBox="1"/>
          <p:nvPr/>
        </p:nvSpPr>
        <p:spPr>
          <a:xfrm>
            <a:off x="2743200" y="4800600"/>
            <a:ext cx="67056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it-IT" sz="1400" spc="150" dirty="0">
                <a:solidFill>
                  <a:srgbClr val="8899AA"/>
                </a:solidFill>
                <a:latin typeface="Open Sans"/>
              </a:rPr>
              <a:t>Presentazione Aziendale</a:t>
            </a:r>
          </a:p>
        </p:txBody>
      </p:sp>
    </p:spTree>
    <p:extLst>
      <p:ext uri="{BB962C8B-B14F-4D97-AF65-F5344CB8AC3E}">
        <p14:creationId xmlns:p14="http://schemas.microsoft.com/office/powerpoint/2010/main" val="2606173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opied Picture 21">
            <a:extLst>
              <a:ext uri="{FF2B5EF4-FFF2-40B4-BE49-F238E27FC236}">
                <a16:creationId xmlns:a16="http://schemas.microsoft.com/office/drawing/2014/main" id="{7912E50D-BF61-AE4F-8A2A-E6F02D54F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430" y="4035335"/>
            <a:ext cx="3748790" cy="245754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CC0B16C-7E9C-3060-DD3B-06282DA0F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it-IT" sz="3200" b="1" dirty="0">
                <a:solidFill>
                  <a:srgbClr val="1A2744"/>
                </a:solidFill>
              </a:rPr>
              <a:t>Chi siamo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3BB7D7-0131-BBB1-987D-248915C71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sz="1600" b="1" dirty="0">
                <a:solidFill>
                  <a:srgbClr val="1B5E8A"/>
                </a:solidFill>
              </a:rPr>
              <a:t>GEINSTAL è un'azienda familiare fondata nel 1994</a:t>
            </a:r>
            <a:r>
              <a:rPr lang="it-IT" sz="1600" dirty="0">
                <a:solidFill>
                  <a:srgbClr val="3A4A5C"/>
                </a:solidFill>
              </a:rPr>
              <a:t>, con riconosciuto prestigio nel settore della manutenzione e nell'esecuzione di impianti elettromeccanici.</a:t>
            </a:r>
          </a:p>
          <a:p>
            <a:pPr marL="0" indent="0">
              <a:buNone/>
            </a:pPr>
            <a:r>
              <a:rPr lang="it-IT" sz="1600" dirty="0">
                <a:solidFill>
                  <a:srgbClr val="3A4A5C"/>
                </a:solidFill>
              </a:rPr>
              <a:t>Il nostro team tecnico possiede una vasta esperienza nell'esecuzione di progetti, nell'implementazione di servizi di manutenzione tecnica e nella gestione delle operazioni per ottenere il massimo rendimento degli impianti nel modo più efficiente possibile.</a:t>
            </a:r>
          </a:p>
          <a:p>
            <a:pPr marL="0" indent="0">
              <a:buNone/>
            </a:pPr>
            <a:r>
              <a:rPr lang="it-IT" sz="1600" dirty="0">
                <a:solidFill>
                  <a:srgbClr val="3A4A5C"/>
                </a:solidFill>
              </a:rPr>
              <a:t>Il nostro valore aggiunto risiede nella nostra cultura, i cui pilastri sono lo </a:t>
            </a:r>
            <a:r>
              <a:rPr lang="it-IT" sz="1600" b="1" dirty="0">
                <a:solidFill>
                  <a:srgbClr val="1B5E8A"/>
                </a:solidFill>
              </a:rPr>
              <a:t>spirito di servizio</a:t>
            </a:r>
            <a:r>
              <a:rPr lang="it-IT" sz="1600" dirty="0">
                <a:solidFill>
                  <a:srgbClr val="3A4A5C"/>
                </a:solidFill>
              </a:rPr>
              <a:t>, l'</a:t>
            </a:r>
            <a:r>
              <a:rPr lang="it-IT" sz="1600" b="1" dirty="0">
                <a:solidFill>
                  <a:srgbClr val="1B5E8A"/>
                </a:solidFill>
              </a:rPr>
              <a:t>impegno</a:t>
            </a:r>
            <a:r>
              <a:rPr lang="it-IT" sz="1600" dirty="0">
                <a:solidFill>
                  <a:srgbClr val="3A4A5C"/>
                </a:solidFill>
              </a:rPr>
              <a:t> verso i nostri clienti, lo sviluppo delle persone e la ricerca del </a:t>
            </a:r>
            <a:r>
              <a:rPr lang="it-IT" sz="1600" b="1" dirty="0">
                <a:solidFill>
                  <a:srgbClr val="1B5E8A"/>
                </a:solidFill>
              </a:rPr>
              <a:t>miglioramento continuo</a:t>
            </a:r>
            <a:r>
              <a:rPr lang="it-IT" sz="1600" dirty="0">
                <a:solidFill>
                  <a:srgbClr val="3A4A5C"/>
                </a:solidFill>
              </a:rPr>
              <a:t>.</a:t>
            </a:r>
          </a:p>
          <a:p>
            <a:pPr marL="0" indent="0">
              <a:buNone/>
            </a:pPr>
            <a:r>
              <a:rPr lang="it-IT" sz="1600" dirty="0">
                <a:solidFill>
                  <a:srgbClr val="3A4A5C"/>
                </a:solidFill>
              </a:rPr>
              <a:t>Attualmente, GEINSTAL è impegnata in un piano strategico con due grandi obiettivi: lo sviluppo di servizi ad alto valore aggiunto e la crescita nei mercati di riferimento del settore.</a:t>
            </a:r>
          </a:p>
        </p:txBody>
      </p:sp>
      <p:sp>
        <p:nvSpPr>
          <p:cNvPr id="20" name="AccentLeft"/>
          <p:cNvSpPr/>
          <p:nvPr/>
        </p:nvSpPr>
        <p:spPr>
          <a:xfrm>
            <a:off x="0" y="365760"/>
            <a:ext cx="91440" cy="1310640"/>
          </a:xfrm>
          <a:prstGeom prst="rect">
            <a:avLst/>
          </a:prstGeom>
          <a:solidFill>
            <a:srgbClr val="E8792B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6109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D2A18-5753-77A4-2843-970049E76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it-IT" sz="3200" b="1" dirty="0">
                <a:solidFill>
                  <a:srgbClr val="1A2744"/>
                </a:solidFill>
              </a:rPr>
              <a:t>I nostri servizi</a:t>
            </a:r>
          </a:p>
        </p:txBody>
      </p:sp>
      <p:sp>
        <p:nvSpPr>
          <p:cNvPr id="10" name="Subtitle"/>
          <p:cNvSpPr txBox="1"/>
          <p:nvPr/>
        </p:nvSpPr>
        <p:spPr>
          <a:xfrm>
            <a:off x="838200" y="16891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it-IT" sz="1600" dirty="0">
                <a:solidFill>
                  <a:srgbClr val="3A4A5C"/>
                </a:solidFill>
              </a:rPr>
              <a:t>L'eccellenza è il nostro principale obiettivo</a:t>
            </a:r>
          </a:p>
        </p:txBody>
      </p:sp>
      <p:sp>
        <p:nvSpPr>
          <p:cNvPr id="30" name="CardLeft"/>
          <p:cNvSpPr/>
          <p:nvPr/>
        </p:nvSpPr>
        <p:spPr>
          <a:xfrm>
            <a:off x="838200" y="2133600"/>
            <a:ext cx="4876800" cy="3810000"/>
          </a:xfrm>
          <a:prstGeom prst="roundRect">
            <a:avLst>
              <a:gd name="adj" fmla="val 3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182880" tIns="182880" rIns="182880" bIns="91440" anchor="t"/>
          <a:lstStyle/>
          <a:p>
            <a:pPr algn="l">
              <a:buNone/>
            </a:pPr>
            <a:r>
              <a:rPr lang="it-IT" sz="2200" b="1" dirty="0">
                <a:solidFill>
                  <a:srgbClr val="1B5E8A"/>
                </a:solidFill>
              </a:rPr>
              <a:t>Manutenzione</a:t>
            </a:r>
          </a:p>
          <a:p>
            <a:pPr algn="l">
              <a:buNone/>
            </a:pPr>
            <a:r>
              <a:rPr lang="it-IT" sz="1400" dirty="0">
                <a:solidFill>
                  <a:srgbClr val="3A4A5C"/>
                </a:solidFill>
              </a:rPr>
              <a:t>Offriamo servizi tecnici attraverso metodologie a valore aggiunto per garantire l'ottimale funzionamento dei vostri impianti secondo criteri di:</a:t>
            </a:r>
          </a:p>
          <a:p>
            <a:pPr marL="342900" indent="-342900">
              <a:buFont typeface="Arial"/>
              <a:buChar char="•"/>
            </a:pPr>
            <a:r>
              <a:rPr lang="it-IT" sz="1400" dirty="0">
                <a:solidFill>
                  <a:srgbClr val="3A4A5C"/>
                </a:solidFill>
              </a:rPr>
              <a:t>Comfort</a:t>
            </a:r>
          </a:p>
          <a:p>
            <a:pPr marL="342900" indent="-342900">
              <a:buFont typeface="Arial"/>
              <a:buChar char="•"/>
            </a:pPr>
            <a:r>
              <a:rPr lang="it-IT" sz="1400" dirty="0">
                <a:solidFill>
                  <a:srgbClr val="3A4A5C"/>
                </a:solidFill>
              </a:rPr>
              <a:t>Efficienza energetica</a:t>
            </a:r>
          </a:p>
          <a:p>
            <a:pPr marL="342900" indent="-342900">
              <a:buFont typeface="Arial"/>
              <a:buChar char="•"/>
            </a:pPr>
            <a:r>
              <a:rPr lang="it-IT" sz="1400" dirty="0">
                <a:solidFill>
                  <a:srgbClr val="3A4A5C"/>
                </a:solidFill>
              </a:rPr>
              <a:t>Continuità operativa</a:t>
            </a:r>
          </a:p>
        </p:txBody>
      </p:sp>
      <p:sp>
        <p:nvSpPr>
          <p:cNvPr id="31" name="CardRight"/>
          <p:cNvSpPr/>
          <p:nvPr/>
        </p:nvSpPr>
        <p:spPr>
          <a:xfrm>
            <a:off x="6019800" y="2133600"/>
            <a:ext cx="4876800" cy="3810000"/>
          </a:xfrm>
          <a:prstGeom prst="roundRect">
            <a:avLst>
              <a:gd name="adj" fmla="val 3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182880" tIns="182880" rIns="182880" bIns="91440" anchor="t"/>
          <a:lstStyle/>
          <a:p>
            <a:pPr algn="l">
              <a:buNone/>
            </a:pPr>
            <a:r>
              <a:rPr lang="it-IT" sz="2200" b="1" dirty="0">
                <a:solidFill>
                  <a:srgbClr val="E8792B"/>
                </a:solidFill>
              </a:rPr>
              <a:t>Impianti</a:t>
            </a:r>
          </a:p>
          <a:p>
            <a:pPr algn="l">
              <a:buNone/>
            </a:pPr>
            <a:r>
              <a:rPr lang="it-IT" sz="1400" dirty="0">
                <a:solidFill>
                  <a:srgbClr val="3A4A5C"/>
                </a:solidFill>
              </a:rPr>
              <a:t>Azienda esperta nell'esecuzione di qualsiasi tipo di impianto, sia infrastrutturale che di processo:</a:t>
            </a:r>
          </a:p>
          <a:p>
            <a:pPr marL="342900" indent="-342900">
              <a:buFont typeface="Arial"/>
              <a:buChar char="•"/>
            </a:pPr>
            <a:r>
              <a:rPr lang="it-IT" sz="1400" dirty="0">
                <a:solidFill>
                  <a:srgbClr val="3A4A5C"/>
                </a:solidFill>
              </a:rPr>
              <a:t>Concezione e progettazione</a:t>
            </a:r>
          </a:p>
          <a:p>
            <a:pPr marL="342900" indent="-342900">
              <a:buFont typeface="Arial"/>
              <a:buChar char="•"/>
            </a:pPr>
            <a:r>
              <a:rPr lang="it-IT" sz="1400" dirty="0">
                <a:solidFill>
                  <a:srgbClr val="3A4A5C"/>
                </a:solidFill>
              </a:rPr>
              <a:t>Esecuzione</a:t>
            </a:r>
          </a:p>
          <a:p>
            <a:pPr marL="342900" indent="-342900">
              <a:buFont typeface="Arial"/>
              <a:buChar char="•"/>
            </a:pPr>
            <a:r>
              <a:rPr lang="it-IT" sz="1400" dirty="0">
                <a:solidFill>
                  <a:srgbClr val="3A4A5C"/>
                </a:solidFill>
              </a:rPr>
              <a:t>Messa in funzione</a:t>
            </a:r>
          </a:p>
          <a:p>
            <a:pPr marL="342900" indent="-342900">
              <a:buFont typeface="Arial"/>
              <a:buChar char="•"/>
            </a:pPr>
            <a:r>
              <a:rPr lang="it-IT" sz="1400" dirty="0">
                <a:solidFill>
                  <a:srgbClr val="3A4A5C"/>
                </a:solidFill>
              </a:rPr>
              <a:t>Certificazione</a:t>
            </a:r>
          </a:p>
        </p:txBody>
      </p:sp>
      <p:sp>
        <p:nvSpPr>
          <p:cNvPr id="32" name="AccentLeft"/>
          <p:cNvSpPr/>
          <p:nvPr/>
        </p:nvSpPr>
        <p:spPr>
          <a:xfrm>
            <a:off x="0" y="365760"/>
            <a:ext cx="91440" cy="1310640"/>
          </a:xfrm>
          <a:prstGeom prst="rect">
            <a:avLst/>
          </a:prstGeom>
          <a:solidFill>
            <a:srgbClr val="E8792B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33" name="Copied Picture 33">
            <a:extLst>
              <a:ext uri="{FF2B5EF4-FFF2-40B4-BE49-F238E27FC236}">
                <a16:creationId xmlns:a16="http://schemas.microsoft.com/office/drawing/2014/main" id="{A42AC315-E2DD-7FC1-96D9-7D4A955FE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4445000"/>
            <a:ext cx="4572000" cy="1397000"/>
          </a:xfrm>
          <a:prstGeom prst="rect">
            <a:avLst/>
          </a:prstGeom>
        </p:spPr>
      </p:pic>
      <p:pic>
        <p:nvPicPr>
          <p:cNvPr id="34" name="Copied Picture 34">
            <a:extLst>
              <a:ext uri="{FF2B5EF4-FFF2-40B4-BE49-F238E27FC236}">
                <a16:creationId xmlns:a16="http://schemas.microsoft.com/office/drawing/2014/main" id="{09A1754C-7A06-71A6-1353-5CFD62433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445000"/>
            <a:ext cx="45720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08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662335-45E6-E857-D3FD-A2EACD79B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it-IT" sz="3200" b="1" dirty="0">
                <a:solidFill>
                  <a:srgbClr val="1A2744"/>
                </a:solidFill>
              </a:rPr>
              <a:t>Le nostre specialità</a:t>
            </a:r>
          </a:p>
        </p:txBody>
      </p:sp>
      <p:sp>
        <p:nvSpPr>
          <p:cNvPr id="50" name="Spec0"/>
          <p:cNvSpPr/>
          <p:nvPr/>
        </p:nvSpPr>
        <p:spPr>
          <a:xfrm>
            <a:off x="609600" y="177800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it-IT" sz="1400" b="1" dirty="0">
                <a:solidFill>
                  <a:srgbClr val="1B5E8A"/>
                </a:solidFill>
              </a:rPr>
              <a:t>Climatizzazione, freddo e caldo</a:t>
            </a:r>
          </a:p>
        </p:txBody>
      </p:sp>
      <p:sp>
        <p:nvSpPr>
          <p:cNvPr id="51" name="Spec1"/>
          <p:cNvSpPr/>
          <p:nvPr/>
        </p:nvSpPr>
        <p:spPr>
          <a:xfrm>
            <a:off x="3383280" y="177800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it-IT" sz="1400" b="1" dirty="0">
                <a:solidFill>
                  <a:srgbClr val="B85A1A"/>
                </a:solidFill>
              </a:rPr>
              <a:t>Riscaldamento</a:t>
            </a:r>
          </a:p>
        </p:txBody>
      </p:sp>
      <p:sp>
        <p:nvSpPr>
          <p:cNvPr id="52" name="Spec2"/>
          <p:cNvSpPr/>
          <p:nvPr/>
        </p:nvSpPr>
        <p:spPr>
          <a:xfrm>
            <a:off x="6156960" y="177800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it-IT" sz="1400" b="1" dirty="0">
                <a:solidFill>
                  <a:srgbClr val="1A6B3C"/>
                </a:solidFill>
              </a:rPr>
              <a:t>Regolazione e controllo</a:t>
            </a:r>
          </a:p>
        </p:txBody>
      </p:sp>
      <p:sp>
        <p:nvSpPr>
          <p:cNvPr id="53" name="Spec3"/>
          <p:cNvSpPr/>
          <p:nvPr/>
        </p:nvSpPr>
        <p:spPr>
          <a:xfrm>
            <a:off x="8930640" y="177800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it-IT" sz="1400" b="1" dirty="0">
                <a:solidFill>
                  <a:srgbClr val="1A6B9A"/>
                </a:solidFill>
              </a:rPr>
              <a:t>CED (Data Center)</a:t>
            </a:r>
          </a:p>
        </p:txBody>
      </p:sp>
      <p:sp>
        <p:nvSpPr>
          <p:cNvPr id="54" name="Spec4"/>
          <p:cNvSpPr/>
          <p:nvPr/>
        </p:nvSpPr>
        <p:spPr>
          <a:xfrm>
            <a:off x="609600" y="310388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it-IT" sz="1400" b="1" dirty="0">
                <a:solidFill>
                  <a:srgbClr val="1B5E8A"/>
                </a:solidFill>
              </a:rPr>
              <a:t>Elettricità</a:t>
            </a:r>
          </a:p>
        </p:txBody>
      </p:sp>
      <p:sp>
        <p:nvSpPr>
          <p:cNvPr id="55" name="Spec5"/>
          <p:cNvSpPr/>
          <p:nvPr/>
        </p:nvSpPr>
        <p:spPr>
          <a:xfrm>
            <a:off x="3383280" y="310388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it-IT" sz="1400" b="1" dirty="0">
                <a:solidFill>
                  <a:srgbClr val="B85A1A"/>
                </a:solidFill>
              </a:rPr>
              <a:t>Consulenza energetica</a:t>
            </a:r>
          </a:p>
        </p:txBody>
      </p:sp>
      <p:sp>
        <p:nvSpPr>
          <p:cNvPr id="56" name="Spec6"/>
          <p:cNvSpPr/>
          <p:nvPr/>
        </p:nvSpPr>
        <p:spPr>
          <a:xfrm>
            <a:off x="6156960" y="310388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it-IT" sz="1400" b="1" dirty="0">
                <a:solidFill>
                  <a:srgbClr val="1A6B3C"/>
                </a:solidFill>
              </a:rPr>
              <a:t>Idraulica e scarichi</a:t>
            </a:r>
          </a:p>
        </p:txBody>
      </p:sp>
      <p:sp>
        <p:nvSpPr>
          <p:cNvPr id="57" name="Spec7"/>
          <p:cNvSpPr/>
          <p:nvPr/>
        </p:nvSpPr>
        <p:spPr>
          <a:xfrm>
            <a:off x="8930640" y="310388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it-IT" sz="1400" b="1" dirty="0">
                <a:solidFill>
                  <a:srgbClr val="1A6B9A"/>
                </a:solidFill>
              </a:rPr>
              <a:t>Gas</a:t>
            </a:r>
          </a:p>
        </p:txBody>
      </p:sp>
      <p:sp>
        <p:nvSpPr>
          <p:cNvPr id="58" name="Spec8"/>
          <p:cNvSpPr/>
          <p:nvPr/>
        </p:nvSpPr>
        <p:spPr>
          <a:xfrm>
            <a:off x="609600" y="442976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it-IT" sz="1400" b="1" dirty="0">
                <a:solidFill>
                  <a:srgbClr val="1B5E8A"/>
                </a:solidFill>
              </a:rPr>
              <a:t>Protezione antincendio</a:t>
            </a:r>
          </a:p>
        </p:txBody>
      </p:sp>
      <p:sp>
        <p:nvSpPr>
          <p:cNvPr id="59" name="Spec9"/>
          <p:cNvSpPr/>
          <p:nvPr/>
        </p:nvSpPr>
        <p:spPr>
          <a:xfrm>
            <a:off x="3383280" y="442976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it-IT" sz="1400" b="1" dirty="0">
                <a:solidFill>
                  <a:srgbClr val="B85A1A"/>
                </a:solidFill>
              </a:rPr>
              <a:t>Energie rinnovabili</a:t>
            </a:r>
          </a:p>
        </p:txBody>
      </p:sp>
      <p:sp>
        <p:nvSpPr>
          <p:cNvPr id="60" name="Spec10"/>
          <p:cNvSpPr/>
          <p:nvPr/>
        </p:nvSpPr>
        <p:spPr>
          <a:xfrm>
            <a:off x="6156960" y="442976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it-IT" sz="1400" b="1" dirty="0">
                <a:solidFill>
                  <a:srgbClr val="1A6B3C"/>
                </a:solidFill>
              </a:rPr>
              <a:t>Telecomunicazioni</a:t>
            </a:r>
          </a:p>
        </p:txBody>
      </p:sp>
      <p:sp>
        <p:nvSpPr>
          <p:cNvPr id="61" name="Spec11"/>
          <p:cNvSpPr/>
          <p:nvPr/>
        </p:nvSpPr>
        <p:spPr>
          <a:xfrm>
            <a:off x="8930640" y="442976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it-IT" sz="1400" b="1" dirty="0">
                <a:solidFill>
                  <a:srgbClr val="1A6B9A"/>
                </a:solidFill>
              </a:rPr>
              <a:t>Sicurezza</a:t>
            </a:r>
          </a:p>
        </p:txBody>
      </p:sp>
      <p:sp>
        <p:nvSpPr>
          <p:cNvPr id="70" name="AccentLeft"/>
          <p:cNvSpPr/>
          <p:nvPr/>
        </p:nvSpPr>
        <p:spPr>
          <a:xfrm>
            <a:off x="0" y="365760"/>
            <a:ext cx="91440" cy="1310640"/>
          </a:xfrm>
          <a:prstGeom prst="rect">
            <a:avLst/>
          </a:prstGeom>
          <a:solidFill>
            <a:srgbClr val="E8792B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4712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F1BB91-B6FF-5A88-9AFA-C8A2F0FCD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it-IT" sz="3200" b="1" dirty="0">
                <a:solidFill>
                  <a:srgbClr val="1A2744"/>
                </a:solidFill>
              </a:rPr>
              <a:t>Settori di attività</a:t>
            </a:r>
          </a:p>
        </p:txBody>
      </p:sp>
      <p:sp>
        <p:nvSpPr>
          <p:cNvPr id="50" name="Sector0"/>
          <p:cNvSpPr/>
          <p:nvPr/>
        </p:nvSpPr>
        <p:spPr>
          <a:xfrm>
            <a:off x="609600" y="177800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1B5E8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it-IT" sz="1400" b="1" dirty="0">
                <a:solidFill>
                  <a:srgbClr val="FFFFFF"/>
                </a:solidFill>
              </a:rPr>
              <a:t>Sedi aziendali</a:t>
            </a:r>
          </a:p>
        </p:txBody>
      </p:sp>
      <p:sp>
        <p:nvSpPr>
          <p:cNvPr id="52" name="Sector1"/>
          <p:cNvSpPr/>
          <p:nvPr/>
        </p:nvSpPr>
        <p:spPr>
          <a:xfrm>
            <a:off x="3383280" y="177800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B85A1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it-IT" sz="1400" b="1" dirty="0">
                <a:solidFill>
                  <a:srgbClr val="FFFFFF"/>
                </a:solidFill>
              </a:rPr>
              <a:t>Edifici pubblici e municipali</a:t>
            </a:r>
          </a:p>
        </p:txBody>
      </p:sp>
      <p:sp>
        <p:nvSpPr>
          <p:cNvPr id="54" name="Sector2"/>
          <p:cNvSpPr/>
          <p:nvPr/>
        </p:nvSpPr>
        <p:spPr>
          <a:xfrm>
            <a:off x="6156960" y="177800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1A6B3C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it-IT" sz="1400" b="1" dirty="0">
                <a:solidFill>
                  <a:srgbClr val="FFFFFF"/>
                </a:solidFill>
              </a:rPr>
              <a:t>Ospedali e centri medici</a:t>
            </a:r>
          </a:p>
        </p:txBody>
      </p:sp>
      <p:sp>
        <p:nvSpPr>
          <p:cNvPr id="56" name="Sector3"/>
          <p:cNvSpPr/>
          <p:nvPr/>
        </p:nvSpPr>
        <p:spPr>
          <a:xfrm>
            <a:off x="8930640" y="177800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1A6B9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it-IT" sz="1400" b="1" dirty="0">
                <a:solidFill>
                  <a:srgbClr val="FFFFFF"/>
                </a:solidFill>
              </a:rPr>
              <a:t>Università e centri formativi</a:t>
            </a:r>
          </a:p>
        </p:txBody>
      </p:sp>
      <p:sp>
        <p:nvSpPr>
          <p:cNvPr id="58" name="Sector4"/>
          <p:cNvSpPr/>
          <p:nvPr/>
        </p:nvSpPr>
        <p:spPr>
          <a:xfrm>
            <a:off x="609600" y="310388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1B5E8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it-IT" sz="1400" b="1" dirty="0">
                <a:solidFill>
                  <a:srgbClr val="FFFFFF"/>
                </a:solidFill>
              </a:rPr>
              <a:t>Industria</a:t>
            </a:r>
          </a:p>
        </p:txBody>
      </p:sp>
      <p:sp>
        <p:nvSpPr>
          <p:cNvPr id="60" name="Sector5"/>
          <p:cNvSpPr/>
          <p:nvPr/>
        </p:nvSpPr>
        <p:spPr>
          <a:xfrm>
            <a:off x="3383280" y="310388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B85A1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it-IT" sz="1400" b="1" dirty="0">
                <a:solidFill>
                  <a:srgbClr val="FFFFFF"/>
                </a:solidFill>
              </a:rPr>
              <a:t>Data center</a:t>
            </a:r>
          </a:p>
        </p:txBody>
      </p:sp>
      <p:sp>
        <p:nvSpPr>
          <p:cNvPr id="62" name="Sector6"/>
          <p:cNvSpPr/>
          <p:nvPr/>
        </p:nvSpPr>
        <p:spPr>
          <a:xfrm>
            <a:off x="6156960" y="310388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1A6B3C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it-IT" sz="1400" b="1" dirty="0">
                <a:solidFill>
                  <a:srgbClr val="FFFFFF"/>
                </a:solidFill>
              </a:rPr>
              <a:t>Hotel</a:t>
            </a:r>
          </a:p>
        </p:txBody>
      </p:sp>
      <p:sp>
        <p:nvSpPr>
          <p:cNvPr id="64" name="Sector7"/>
          <p:cNvSpPr/>
          <p:nvPr/>
        </p:nvSpPr>
        <p:spPr>
          <a:xfrm>
            <a:off x="8930640" y="310388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1A6B9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it-IT" sz="1400" b="1" dirty="0">
                <a:solidFill>
                  <a:srgbClr val="FFFFFF"/>
                </a:solidFill>
              </a:rPr>
              <a:t>Residenze</a:t>
            </a:r>
          </a:p>
        </p:txBody>
      </p:sp>
      <p:sp>
        <p:nvSpPr>
          <p:cNvPr id="66" name="Sector8"/>
          <p:cNvSpPr/>
          <p:nvPr/>
        </p:nvSpPr>
        <p:spPr>
          <a:xfrm>
            <a:off x="609600" y="442976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1B5E8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it-IT" sz="1400" b="1" dirty="0">
                <a:solidFill>
                  <a:srgbClr val="FFFFFF"/>
                </a:solidFill>
              </a:rPr>
              <a:t>Musei e centri espositivi</a:t>
            </a:r>
          </a:p>
        </p:txBody>
      </p:sp>
      <p:sp>
        <p:nvSpPr>
          <p:cNvPr id="68" name="Sector9"/>
          <p:cNvSpPr/>
          <p:nvPr/>
        </p:nvSpPr>
        <p:spPr>
          <a:xfrm>
            <a:off x="3383280" y="442976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B85A1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it-IT" sz="1400" b="1" dirty="0">
                <a:solidFill>
                  <a:srgbClr val="FFFFFF"/>
                </a:solidFill>
              </a:rPr>
              <a:t>Centri commerciali</a:t>
            </a:r>
          </a:p>
        </p:txBody>
      </p:sp>
      <p:sp>
        <p:nvSpPr>
          <p:cNvPr id="70" name="Sector10"/>
          <p:cNvSpPr/>
          <p:nvPr/>
        </p:nvSpPr>
        <p:spPr>
          <a:xfrm>
            <a:off x="6156960" y="442976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1A6B3C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it-IT" sz="1400" b="1" dirty="0">
                <a:solidFill>
                  <a:srgbClr val="FFFFFF"/>
                </a:solidFill>
              </a:rPr>
              <a:t>Edifici storici e di pregio</a:t>
            </a:r>
          </a:p>
        </p:txBody>
      </p:sp>
      <p:sp>
        <p:nvSpPr>
          <p:cNvPr id="72" name="Sector11"/>
          <p:cNvSpPr/>
          <p:nvPr/>
        </p:nvSpPr>
        <p:spPr>
          <a:xfrm>
            <a:off x="8930640" y="442976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1A6B9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it-IT" sz="1400" b="1" dirty="0">
                <a:solidFill>
                  <a:srgbClr val="FFFFFF"/>
                </a:solidFill>
              </a:rPr>
              <a:t>Centri tecnologici e laboratori</a:t>
            </a:r>
          </a:p>
        </p:txBody>
      </p:sp>
      <p:sp>
        <p:nvSpPr>
          <p:cNvPr id="80" name="SubSectores"/>
          <p:cNvSpPr txBox="1"/>
          <p:nvPr/>
        </p:nvSpPr>
        <p:spPr>
          <a:xfrm>
            <a:off x="838200" y="1401128"/>
            <a:ext cx="105156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it-IT" sz="1600" dirty="0">
                <a:solidFill>
                  <a:srgbClr val="3A4A5C"/>
                </a:solidFill>
              </a:rPr>
              <a:t>Siamo esperti in molteplici settori</a:t>
            </a:r>
          </a:p>
        </p:txBody>
      </p:sp>
      <p:sp>
        <p:nvSpPr>
          <p:cNvPr id="81" name="AccentLeft"/>
          <p:cNvSpPr/>
          <p:nvPr/>
        </p:nvSpPr>
        <p:spPr>
          <a:xfrm>
            <a:off x="0" y="365760"/>
            <a:ext cx="91440" cy="1310640"/>
          </a:xfrm>
          <a:prstGeom prst="rect">
            <a:avLst/>
          </a:prstGeom>
          <a:solidFill>
            <a:srgbClr val="E8792B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2777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4B37C7-8B30-A4DB-6896-8856CBFB1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it-IT" sz="3200" b="1" dirty="0">
                <a:solidFill>
                  <a:srgbClr val="1A2744"/>
                </a:solidFill>
              </a:rPr>
              <a:t>Progetti di rilievo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D96EE4-B761-DD62-ECF7-BC6F1751C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sz="1500" b="1" dirty="0">
                <a:solidFill>
                  <a:srgbClr val="1B5E8A"/>
                </a:solidFill>
              </a:rPr>
              <a:t>Sanità</a:t>
            </a:r>
          </a:p>
          <a:p>
            <a:pPr marL="342900" indent="-342900">
              <a:buFont typeface="Arial"/>
              <a:buChar char="•"/>
            </a:pPr>
            <a:r>
              <a:rPr lang="it-IT" sz="1400" dirty="0">
                <a:solidFill>
                  <a:srgbClr val="3A4A5C"/>
                </a:solidFill>
              </a:rPr>
              <a:t>Hospital Universitari de Bellvitge · Hospital Vall d'Hebron · Hospital Germans Trias i Pujol · Hospital de la Santa Creu i Sant Pau · Consorci Hospitalari de Vic</a:t>
            </a:r>
          </a:p>
          <a:p>
            <a:pPr marL="0" indent="0">
              <a:buNone/>
            </a:pPr>
            <a:r>
              <a:rPr lang="it-IT" sz="1500" b="1" dirty="0">
                <a:solidFill>
                  <a:srgbClr val="E8792B"/>
                </a:solidFill>
              </a:rPr>
              <a:t>Cultura e istruzione</a:t>
            </a:r>
          </a:p>
          <a:p>
            <a:pPr marL="342900" indent="-342900">
              <a:buFont typeface="Arial"/>
              <a:buChar char="•"/>
            </a:pPr>
            <a:r>
              <a:rPr lang="it-IT" sz="1400" dirty="0">
                <a:solidFill>
                  <a:srgbClr val="3A4A5C"/>
                </a:solidFill>
              </a:rPr>
              <a:t>CCCB · Monestir de Pedralbes · Universitat Internacional de Catalunya · U.A.B. · Tecnocampus · Fundación Gimbernat</a:t>
            </a:r>
          </a:p>
          <a:p>
            <a:pPr marL="0" indent="0">
              <a:buNone/>
            </a:pPr>
            <a:r>
              <a:rPr lang="it-IT" sz="1500" b="1" dirty="0">
                <a:solidFill>
                  <a:srgbClr val="2E8B57"/>
                </a:solidFill>
              </a:rPr>
              <a:t>Infrastrutture e servizi pubblici</a:t>
            </a:r>
          </a:p>
          <a:p>
            <a:pPr marL="342900" indent="-342900">
              <a:buFont typeface="Arial"/>
              <a:buChar char="•"/>
            </a:pPr>
            <a:r>
              <a:rPr lang="it-IT" sz="1400" dirty="0">
                <a:solidFill>
                  <a:srgbClr val="3A4A5C"/>
                </a:solidFill>
              </a:rPr>
              <a:t>AENA T2 · ENAIRE Centro Controllo Traffico Aereo · Comune di Barcellona · Mossos d'Esquadra – Sabadell · Fira de Barcelona · Mercabarna</a:t>
            </a:r>
          </a:p>
          <a:p>
            <a:pPr marL="0" indent="0">
              <a:buNone/>
            </a:pPr>
            <a:r>
              <a:rPr lang="it-IT" sz="1500" b="1" dirty="0">
                <a:solidFill>
                  <a:srgbClr val="3498DB"/>
                </a:solidFill>
              </a:rPr>
              <a:t>Settore privato</a:t>
            </a:r>
          </a:p>
          <a:p>
            <a:pPr marL="342900" indent="-342900">
              <a:buFont typeface="Arial"/>
              <a:buChar char="•"/>
            </a:pPr>
            <a:r>
              <a:rPr lang="it-IT" sz="1400" dirty="0">
                <a:solidFill>
                  <a:srgbClr val="3A4A5C"/>
                </a:solidFill>
              </a:rPr>
              <a:t>IDIADA · Mango · Alcampo · Paddock Sabadell · One Ocean Port Vell · Aprosa</a:t>
            </a:r>
          </a:p>
        </p:txBody>
      </p:sp>
      <p:sp>
        <p:nvSpPr>
          <p:cNvPr id="20" name="AccentLeft"/>
          <p:cNvSpPr/>
          <p:nvPr/>
        </p:nvSpPr>
        <p:spPr>
          <a:xfrm>
            <a:off x="0" y="365760"/>
            <a:ext cx="91440" cy="1310640"/>
          </a:xfrm>
          <a:prstGeom prst="rect">
            <a:avLst/>
          </a:prstGeom>
          <a:solidFill>
            <a:srgbClr val="E8792B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21" name="Copied Picture 21">
            <a:extLst>
              <a:ext uri="{FF2B5EF4-FFF2-40B4-BE49-F238E27FC236}">
                <a16:creationId xmlns:a16="http://schemas.microsoft.com/office/drawing/2014/main" id="{C49BD032-D06B-A43B-A8D1-A19A870D7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4668" y="4071774"/>
            <a:ext cx="3551420" cy="224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747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E2841"/>
            </a:gs>
            <a:gs pos="100000">
              <a:srgbClr val="1A3A5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Copied Picture 31">
            <a:extLst>
              <a:ext uri="{FF2B5EF4-FFF2-40B4-BE49-F238E27FC236}">
                <a16:creationId xmlns:a16="http://schemas.microsoft.com/office/drawing/2014/main" id="{8614CDC3-36E1-A699-3BDB-087C9BE46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68630"/>
            <a:ext cx="2413000" cy="1333500"/>
          </a:xfrm>
          <a:prstGeom prst="rect">
            <a:avLst/>
          </a:prstGeom>
        </p:spPr>
      </p:pic>
      <p:sp>
        <p:nvSpPr>
          <p:cNvPr id="10" name="Title"/>
          <p:cNvSpPr txBox="1"/>
          <p:nvPr/>
        </p:nvSpPr>
        <p:spPr>
          <a:xfrm>
            <a:off x="838200" y="365760"/>
            <a:ext cx="105156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it-IT" sz="3200" b="1" dirty="0">
                <a:solidFill>
                  <a:srgbClr val="FFFFFF"/>
                </a:solidFill>
              </a:rPr>
              <a:t>GEINSTAL in cifre</a:t>
            </a:r>
          </a:p>
        </p:txBody>
      </p:sp>
      <p:sp>
        <p:nvSpPr>
          <p:cNvPr id="20" name="KPI0"/>
          <p:cNvSpPr/>
          <p:nvPr/>
        </p:nvSpPr>
        <p:spPr>
          <a:xfrm>
            <a:off x="609600" y="2133600"/>
            <a:ext cx="2438400" cy="3429000"/>
          </a:xfrm>
          <a:prstGeom prst="roundRect">
            <a:avLst>
              <a:gd name="adj" fmla="val 5000"/>
            </a:avLst>
          </a:prstGeom>
          <a:solidFill>
            <a:srgbClr val="FFFFFF">
              <a:alpha val="12000"/>
            </a:srgbClr>
          </a:solidFill>
          <a:ln w="0">
            <a:noFill/>
          </a:ln>
        </p:spPr>
        <p:txBody>
          <a:bodyPr wrap="square" lIns="91440" tIns="91440" rIns="91440" bIns="91440" anchor="ctr"/>
          <a:lstStyle/>
          <a:p>
            <a:pPr algn="ctr">
              <a:buNone/>
            </a:pPr>
            <a:r>
              <a:rPr lang="it-IT" sz="4400" b="1" dirty="0">
                <a:solidFill>
                  <a:srgbClr val="E8792B"/>
                </a:solidFill>
              </a:rPr>
              <a:t>4.230</a:t>
            </a:r>
          </a:p>
          <a:p>
            <a:pPr algn="ctr">
              <a:buNone/>
            </a:pPr>
            <a:r>
              <a:rPr lang="it-IT" sz="1800" dirty="0">
                <a:solidFill>
                  <a:srgbClr val="FFFFFF"/>
                </a:solidFill>
              </a:rPr>
              <a:t>Impianti</a:t>
            </a:r>
          </a:p>
        </p:txBody>
      </p:sp>
      <p:sp>
        <p:nvSpPr>
          <p:cNvPr id="21" name="KPI1"/>
          <p:cNvSpPr/>
          <p:nvPr/>
        </p:nvSpPr>
        <p:spPr>
          <a:xfrm>
            <a:off x="3322320" y="2133600"/>
            <a:ext cx="2438400" cy="3429000"/>
          </a:xfrm>
          <a:prstGeom prst="roundRect">
            <a:avLst>
              <a:gd name="adj" fmla="val 5000"/>
            </a:avLst>
          </a:prstGeom>
          <a:solidFill>
            <a:srgbClr val="FFFFFF">
              <a:alpha val="12000"/>
            </a:srgbClr>
          </a:solidFill>
          <a:ln w="0">
            <a:noFill/>
          </a:ln>
        </p:spPr>
        <p:txBody>
          <a:bodyPr wrap="square" lIns="91440" tIns="91440" rIns="91440" bIns="91440" anchor="ctr"/>
          <a:lstStyle/>
          <a:p>
            <a:pPr algn="ctr">
              <a:buNone/>
            </a:pPr>
            <a:r>
              <a:rPr lang="it-IT" sz="4400" b="1" dirty="0">
                <a:solidFill>
                  <a:srgbClr val="1B5E8A"/>
                </a:solidFill>
              </a:rPr>
              <a:t>623</a:t>
            </a:r>
          </a:p>
          <a:p>
            <a:pPr algn="ctr">
              <a:buNone/>
            </a:pPr>
            <a:r>
              <a:rPr lang="it-IT" sz="1800" dirty="0">
                <a:solidFill>
                  <a:srgbClr val="FFFFFF"/>
                </a:solidFill>
              </a:rPr>
              <a:t>Clienti</a:t>
            </a:r>
          </a:p>
        </p:txBody>
      </p:sp>
      <p:sp>
        <p:nvSpPr>
          <p:cNvPr id="22" name="KPI2"/>
          <p:cNvSpPr/>
          <p:nvPr/>
        </p:nvSpPr>
        <p:spPr>
          <a:xfrm>
            <a:off x="6035040" y="2133600"/>
            <a:ext cx="2438400" cy="3429000"/>
          </a:xfrm>
          <a:prstGeom prst="roundRect">
            <a:avLst>
              <a:gd name="adj" fmla="val 5000"/>
            </a:avLst>
          </a:prstGeom>
          <a:solidFill>
            <a:srgbClr val="FFFFFF">
              <a:alpha val="12000"/>
            </a:srgbClr>
          </a:solidFill>
          <a:ln w="0">
            <a:noFill/>
          </a:ln>
        </p:spPr>
        <p:txBody>
          <a:bodyPr wrap="square" lIns="91440" tIns="91440" rIns="91440" bIns="91440" anchor="ctr"/>
          <a:lstStyle/>
          <a:p>
            <a:pPr algn="ctr">
              <a:buNone/>
            </a:pPr>
            <a:r>
              <a:rPr lang="it-IT" sz="4400" b="1" dirty="0">
                <a:solidFill>
                  <a:srgbClr val="2E8B57"/>
                </a:solidFill>
              </a:rPr>
              <a:t>305</a:t>
            </a:r>
          </a:p>
          <a:p>
            <a:pPr algn="ctr">
              <a:buNone/>
            </a:pPr>
            <a:r>
              <a:rPr lang="it-IT" sz="1800" dirty="0">
                <a:solidFill>
                  <a:srgbClr val="FFFFFF"/>
                </a:solidFill>
              </a:rPr>
              <a:t>Dipendenti</a:t>
            </a:r>
          </a:p>
        </p:txBody>
      </p:sp>
      <p:sp>
        <p:nvSpPr>
          <p:cNvPr id="23" name="KPI3"/>
          <p:cNvSpPr/>
          <p:nvPr/>
        </p:nvSpPr>
        <p:spPr>
          <a:xfrm>
            <a:off x="8747760" y="2133600"/>
            <a:ext cx="2438400" cy="3429000"/>
          </a:xfrm>
          <a:prstGeom prst="roundRect">
            <a:avLst>
              <a:gd name="adj" fmla="val 5000"/>
            </a:avLst>
          </a:prstGeom>
          <a:solidFill>
            <a:srgbClr val="FFFFFF">
              <a:alpha val="12000"/>
            </a:srgbClr>
          </a:solidFill>
          <a:ln w="0">
            <a:noFill/>
          </a:ln>
        </p:spPr>
        <p:txBody>
          <a:bodyPr wrap="square" lIns="91440" tIns="91440" rIns="91440" bIns="91440" anchor="ctr"/>
          <a:lstStyle/>
          <a:p>
            <a:pPr algn="ctr">
              <a:buNone/>
            </a:pPr>
            <a:r>
              <a:rPr lang="it-IT" sz="4400" b="1" dirty="0">
                <a:solidFill>
                  <a:srgbClr val="3498DB"/>
                </a:solidFill>
              </a:rPr>
              <a:t>45</a:t>
            </a:r>
          </a:p>
          <a:p>
            <a:pPr algn="ctr">
              <a:buNone/>
            </a:pPr>
            <a:r>
              <a:rPr lang="it-IT" sz="1800" dirty="0">
                <a:solidFill>
                  <a:srgbClr val="FFFFFF"/>
                </a:solidFill>
              </a:rPr>
              <a:t>Team di ingegneria</a:t>
            </a:r>
          </a:p>
        </p:txBody>
      </p:sp>
      <p:sp>
        <p:nvSpPr>
          <p:cNvPr id="30" name="Sub"/>
          <p:cNvSpPr txBox="1"/>
          <p:nvPr/>
        </p:nvSpPr>
        <p:spPr>
          <a:xfrm>
            <a:off x="1828800" y="1143000"/>
            <a:ext cx="8534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it-IT" sz="1600" dirty="0">
                <a:solidFill>
                  <a:srgbClr val="8899AA"/>
                </a:solidFill>
              </a:rPr>
              <a:t>Oltre 30 anni di esperienza sostengono il nostro percorso</a:t>
            </a:r>
          </a:p>
        </p:txBody>
      </p:sp>
    </p:spTree>
    <p:extLst>
      <p:ext uri="{BB962C8B-B14F-4D97-AF65-F5344CB8AC3E}">
        <p14:creationId xmlns:p14="http://schemas.microsoft.com/office/powerpoint/2010/main" val="709883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B10C03-BD7A-835F-5D18-CA7E857BC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it-IT" sz="3200" b="1" dirty="0">
                <a:solidFill>
                  <a:srgbClr val="1A2744"/>
                </a:solidFill>
              </a:rPr>
              <a:t>Valori e certificazioni</a:t>
            </a:r>
          </a:p>
        </p:txBody>
      </p:sp>
      <p:sp>
        <p:nvSpPr>
          <p:cNvPr id="30" name="Valores"/>
          <p:cNvSpPr txBox="1"/>
          <p:nvPr/>
        </p:nvSpPr>
        <p:spPr>
          <a:xfrm>
            <a:off x="838200" y="1752600"/>
            <a:ext cx="5029200" cy="3111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it-IT" sz="2000" b="1" dirty="0">
                <a:solidFill>
                  <a:srgbClr val="1B5E8A"/>
                </a:solidFill>
              </a:rPr>
              <a:t>La nostra politica aziendale</a:t>
            </a:r>
          </a:p>
          <a:p>
            <a:pPr marL="342900" indent="-342900">
              <a:buFont typeface="Arial"/>
              <a:buChar char="•"/>
            </a:pPr>
            <a:r>
              <a:rPr lang="it-IT" sz="1500" dirty="0">
                <a:solidFill>
                  <a:srgbClr val="3A4A5C"/>
                </a:solidFill>
              </a:rPr>
              <a:t>Fiducia e rispetto</a:t>
            </a:r>
          </a:p>
          <a:p>
            <a:pPr marL="342900" indent="-342900">
              <a:buFont typeface="Arial"/>
              <a:buChar char="•"/>
            </a:pPr>
            <a:r>
              <a:rPr lang="it-IT" sz="1500" dirty="0">
                <a:solidFill>
                  <a:srgbClr val="3A4A5C"/>
                </a:solidFill>
              </a:rPr>
              <a:t>Onestà e integrità</a:t>
            </a:r>
          </a:p>
          <a:p>
            <a:pPr marL="342900" indent="-342900">
              <a:buFont typeface="Arial"/>
              <a:buChar char="•"/>
            </a:pPr>
            <a:r>
              <a:rPr lang="it-IT" sz="1500" dirty="0">
                <a:solidFill>
                  <a:srgbClr val="3A4A5C"/>
                </a:solidFill>
              </a:rPr>
              <a:t>Professionalità ed efficacia</a:t>
            </a:r>
          </a:p>
          <a:p>
            <a:pPr marL="342900" indent="-342900">
              <a:buFont typeface="Arial"/>
              <a:buChar char="•"/>
            </a:pPr>
            <a:r>
              <a:rPr lang="it-IT" sz="1500" dirty="0">
                <a:solidFill>
                  <a:srgbClr val="3A4A5C"/>
                </a:solidFill>
              </a:rPr>
              <a:t>Responsabilità sociale</a:t>
            </a:r>
          </a:p>
          <a:p>
            <a:pPr marL="342900" indent="-342900">
              <a:buFont typeface="Arial"/>
              <a:buChar char="•"/>
            </a:pPr>
            <a:r>
              <a:rPr lang="it-IT" sz="1500" dirty="0">
                <a:solidFill>
                  <a:srgbClr val="3A4A5C"/>
                </a:solidFill>
              </a:rPr>
              <a:t>Impegno ambientale</a:t>
            </a:r>
          </a:p>
          <a:p>
            <a:pPr marL="342900" indent="-342900">
              <a:buFont typeface="Arial"/>
              <a:buChar char="•"/>
            </a:pPr>
            <a:r>
              <a:rPr lang="it-IT" sz="1500" dirty="0">
                <a:solidFill>
                  <a:srgbClr val="3A4A5C"/>
                </a:solidFill>
              </a:rPr>
              <a:t>Miglioramento continuo</a:t>
            </a:r>
          </a:p>
        </p:txBody>
      </p:sp>
      <p:sp>
        <p:nvSpPr>
          <p:cNvPr id="40" name="Cert0"/>
          <p:cNvSpPr/>
          <p:nvPr/>
        </p:nvSpPr>
        <p:spPr>
          <a:xfrm>
            <a:off x="6324600" y="1752600"/>
            <a:ext cx="4876800" cy="100584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182880" tIns="45720" rIns="91440" bIns="45720" anchor="ctr"/>
          <a:lstStyle/>
          <a:p>
            <a:pPr algn="l">
              <a:buNone/>
            </a:pPr>
            <a:r>
              <a:rPr lang="it-IT" sz="1800" b="1" dirty="0">
                <a:solidFill>
                  <a:srgbClr val="1B5E8A"/>
                </a:solidFill>
              </a:rPr>
              <a:t>ISO 9001</a:t>
            </a:r>
          </a:p>
          <a:p>
            <a:pPr algn="l">
              <a:buNone/>
            </a:pPr>
            <a:r>
              <a:rPr lang="it-IT" sz="1400" dirty="0">
                <a:solidFill>
                  <a:srgbClr val="3A4A5C"/>
                </a:solidFill>
              </a:rPr>
              <a:t>Gestione della Qualità</a:t>
            </a:r>
          </a:p>
        </p:txBody>
      </p:sp>
      <p:sp>
        <p:nvSpPr>
          <p:cNvPr id="41" name="Cert1"/>
          <p:cNvSpPr/>
          <p:nvPr/>
        </p:nvSpPr>
        <p:spPr>
          <a:xfrm>
            <a:off x="6324600" y="2895600"/>
            <a:ext cx="4876800" cy="100584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182880" tIns="45720" rIns="91440" bIns="45720" anchor="ctr"/>
          <a:lstStyle/>
          <a:p>
            <a:pPr algn="l">
              <a:buNone/>
            </a:pPr>
            <a:r>
              <a:rPr lang="it-IT" sz="1800" b="1" dirty="0">
                <a:solidFill>
                  <a:srgbClr val="2E8B57"/>
                </a:solidFill>
              </a:rPr>
              <a:t>ISO 14001</a:t>
            </a:r>
          </a:p>
          <a:p>
            <a:pPr algn="l">
              <a:buNone/>
            </a:pPr>
            <a:r>
              <a:rPr lang="it-IT" sz="1400" dirty="0">
                <a:solidFill>
                  <a:srgbClr val="3A4A5C"/>
                </a:solidFill>
              </a:rPr>
              <a:t>Gestione Ambientale</a:t>
            </a:r>
          </a:p>
        </p:txBody>
      </p:sp>
      <p:sp>
        <p:nvSpPr>
          <p:cNvPr id="42" name="Cert2"/>
          <p:cNvSpPr/>
          <p:nvPr/>
        </p:nvSpPr>
        <p:spPr>
          <a:xfrm>
            <a:off x="6324600" y="4038600"/>
            <a:ext cx="4876800" cy="100584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182880" tIns="45720" rIns="91440" bIns="45720" anchor="ctr"/>
          <a:lstStyle/>
          <a:p>
            <a:pPr algn="l">
              <a:buNone/>
            </a:pPr>
            <a:r>
              <a:rPr lang="it-IT" sz="1800" b="1" dirty="0">
                <a:solidFill>
                  <a:srgbClr val="E8792B"/>
                </a:solidFill>
              </a:rPr>
              <a:t>ISO 50001</a:t>
            </a:r>
          </a:p>
          <a:p>
            <a:pPr algn="l">
              <a:buNone/>
            </a:pPr>
            <a:r>
              <a:rPr lang="it-IT" sz="1400" dirty="0">
                <a:solidFill>
                  <a:srgbClr val="3A4A5C"/>
                </a:solidFill>
              </a:rPr>
              <a:t>Gestione Energetica</a:t>
            </a:r>
          </a:p>
        </p:txBody>
      </p:sp>
      <p:sp>
        <p:nvSpPr>
          <p:cNvPr id="43" name="Cert3"/>
          <p:cNvSpPr/>
          <p:nvPr/>
        </p:nvSpPr>
        <p:spPr>
          <a:xfrm>
            <a:off x="6324600" y="5181600"/>
            <a:ext cx="4876800" cy="100584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182880" tIns="45720" rIns="91440" bIns="45720" anchor="ctr"/>
          <a:lstStyle/>
          <a:p>
            <a:pPr algn="l">
              <a:buNone/>
            </a:pPr>
            <a:r>
              <a:rPr lang="it-IT" sz="1800" b="1" dirty="0">
                <a:solidFill>
                  <a:srgbClr val="3498DB"/>
                </a:solidFill>
              </a:rPr>
              <a:t>OHSAS 18001</a:t>
            </a:r>
          </a:p>
          <a:p>
            <a:pPr algn="l">
              <a:buNone/>
            </a:pPr>
            <a:r>
              <a:rPr lang="it-IT" sz="1400" dirty="0">
                <a:solidFill>
                  <a:srgbClr val="3A4A5C"/>
                </a:solidFill>
              </a:rPr>
              <a:t>Sicurezza e Salute</a:t>
            </a:r>
          </a:p>
        </p:txBody>
      </p:sp>
      <p:sp>
        <p:nvSpPr>
          <p:cNvPr id="50" name="AccentLeft"/>
          <p:cNvSpPr/>
          <p:nvPr/>
        </p:nvSpPr>
        <p:spPr>
          <a:xfrm>
            <a:off x="0" y="365760"/>
            <a:ext cx="91440" cy="1310640"/>
          </a:xfrm>
          <a:prstGeom prst="rect">
            <a:avLst/>
          </a:prstGeom>
          <a:solidFill>
            <a:srgbClr val="E8792B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51" name="Copied Picture 51">
            <a:extLst>
              <a:ext uri="{FF2B5EF4-FFF2-40B4-BE49-F238E27FC236}">
                <a16:creationId xmlns:a16="http://schemas.microsoft.com/office/drawing/2014/main" id="{4CCEC74D-D0C2-29AD-F434-185801456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953000"/>
            <a:ext cx="50292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562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E2841"/>
            </a:gs>
            <a:gs pos="100000">
              <a:srgbClr val="1A3A5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457200" y="3810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it-IT" sz="3600" b="1" dirty="0">
                <a:solidFill>
                  <a:srgbClr val="FFFFFF"/>
                </a:solidFill>
              </a:rPr>
              <a:t>Contatti</a:t>
            </a:r>
          </a:p>
        </p:txBody>
      </p:sp>
      <p:sp>
        <p:nvSpPr>
          <p:cNvPr id="11" name="Line"/>
          <p:cNvSpPr/>
          <p:nvPr/>
        </p:nvSpPr>
        <p:spPr>
          <a:xfrm>
            <a:off x="4191000" y="1219200"/>
            <a:ext cx="3810000" cy="0"/>
          </a:xfrm>
          <a:prstGeom prst="line">
            <a:avLst/>
          </a:prstGeom>
          <a:ln w="19050">
            <a:solidFill>
              <a:srgbClr val="E8792B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0" name="ContactInfo"/>
          <p:cNvSpPr txBox="1"/>
          <p:nvPr/>
        </p:nvSpPr>
        <p:spPr>
          <a:xfrm>
            <a:off x="609600" y="1524000"/>
            <a:ext cx="5334000" cy="419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it-IT" sz="1800" b="1" dirty="0">
                <a:solidFill>
                  <a:srgbClr val="E8792B"/>
                </a:solidFill>
              </a:rPr>
              <a:t>Edificio CUBIC Sant Cugat</a:t>
            </a:r>
          </a:p>
          <a:p>
            <a:pPr algn="l">
              <a:buNone/>
            </a:pPr>
            <a:r>
              <a:rPr lang="it-IT" sz="1600" dirty="0">
                <a:solidFill>
                  <a:srgbClr val="C0CCD8"/>
                </a:solidFill>
              </a:rPr>
              <a:t>Av. Alcalde Barnils, 72 · 1° Piano</a:t>
            </a:r>
          </a:p>
          <a:p>
            <a:pPr algn="l">
              <a:buNone/>
            </a:pPr>
            <a:r>
              <a:rPr lang="it-IT" sz="1600" dirty="0">
                <a:solidFill>
                  <a:srgbClr val="C0CCD8"/>
                </a:solidFill>
              </a:rPr>
              <a:t>Parc Empresarial Can Sant Joan</a:t>
            </a:r>
          </a:p>
          <a:p>
            <a:pPr algn="l">
              <a:buNone/>
            </a:pPr>
            <a:r>
              <a:rPr lang="it-IT" sz="1600" dirty="0">
                <a:solidFill>
                  <a:srgbClr val="C0CCD8"/>
                </a:solidFill>
              </a:rPr>
              <a:t>08174 – Sant Cugat del Vallès, Barcellona</a:t>
            </a:r>
          </a:p>
          <a:p>
            <a:pPr algn="l">
              <a:buNone/>
            </a:pPr>
            <a:r>
              <a:rPr lang="it-IT" sz="2000" b="1" dirty="0">
                <a:solidFill>
                  <a:srgbClr val="FFFFFF"/>
                </a:solidFill>
              </a:rPr>
              <a:t>+34 93 454 15 00</a:t>
            </a:r>
          </a:p>
          <a:p>
            <a:pPr algn="l">
              <a:buNone/>
            </a:pPr>
            <a:r>
              <a:rPr lang="it-IT" sz="1600" dirty="0">
                <a:solidFill>
                  <a:srgbClr val="E8792B"/>
                </a:solidFill>
              </a:rPr>
              <a:t>geinstal@geinstal.com</a:t>
            </a:r>
          </a:p>
          <a:p>
            <a:pPr algn="l">
              <a:buNone/>
            </a:pPr>
            <a:r>
              <a:rPr lang="it-IT" sz="1600" dirty="0">
                <a:solidFill>
                  <a:srgbClr val="8899AA"/>
                </a:solidFill>
              </a:rPr>
              <a:t>www.geinstal.com</a:t>
            </a:r>
          </a:p>
          <a:p>
            <a:pPr algn="l">
              <a:buNone/>
            </a:pPr>
            <a:r>
              <a:rPr lang="it-IT" sz="1600" dirty="0">
                <a:solidFill>
                  <a:srgbClr val="8899AA"/>
                </a:solidFill>
              </a:rPr>
              <a:t>LinkedIn: geinstal-s-l-</a:t>
            </a:r>
          </a:p>
        </p:txBody>
      </p:sp>
      <p:sp>
        <p:nvSpPr>
          <p:cNvPr id="25" name="Tagline"/>
          <p:cNvSpPr txBox="1"/>
          <p:nvPr/>
        </p:nvSpPr>
        <p:spPr>
          <a:xfrm>
            <a:off x="609600" y="5943600"/>
            <a:ext cx="111252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it-IT" sz="1400" i="1" dirty="0">
                <a:solidFill>
                  <a:srgbClr val="8899AA"/>
                </a:solidFill>
              </a:rPr>
              <a:t>Partner nella gestione dei vostri impianti</a:t>
            </a:r>
          </a:p>
        </p:txBody>
      </p:sp>
      <p:pic>
        <p:nvPicPr>
          <p:cNvPr id="26" name="Copied Picture 26">
            <a:extLst>
              <a:ext uri="{FF2B5EF4-FFF2-40B4-BE49-F238E27FC236}">
                <a16:creationId xmlns:a16="http://schemas.microsoft.com/office/drawing/2014/main" id="{2EF28375-02A3-4981-8AE2-C5F5C4D93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524000"/>
            <a:ext cx="54864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4275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 [1776361337070]">
  <a:themeElements>
    <a:clrScheme name="Office">
      <a:dk1>
        <a:srgbClr val="1A2744"/>
      </a:dk1>
      <a:lt1>
        <a:srgbClr val="FFFFFF"/>
      </a:lt1>
      <a:dk2>
        <a:srgbClr val="0E2841"/>
      </a:dk2>
      <a:lt2>
        <a:srgbClr val="F0F3F7"/>
      </a:lt2>
      <a:accent1>
        <a:srgbClr val="1B5E8A"/>
      </a:accent1>
      <a:accent2>
        <a:srgbClr val="E8792B"/>
      </a:accent2>
      <a:accent3>
        <a:srgbClr val="2E8B57"/>
      </a:accent3>
      <a:accent4>
        <a:srgbClr val="3498DB"/>
      </a:accent4>
      <a:accent5>
        <a:srgbClr val="8E44AD"/>
      </a:accent5>
      <a:accent6>
        <a:srgbClr val="27AE60"/>
      </a:accent6>
      <a:hlink>
        <a:srgbClr val="467886"/>
      </a:hlink>
      <a:folHlink>
        <a:srgbClr val="96607D"/>
      </a:folHlink>
    </a:clrScheme>
    <a:fontScheme name="Offic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C647588-0552-654A-8E22-9884037E48A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dd45cc7-3521-4489-a484-5c99305430a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484</Words>
  <Application>Microsoft Macintosh PowerPoint</Application>
  <PresentationFormat>Panorámica</PresentationFormat>
  <Paragraphs>93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Montserrat</vt:lpstr>
      <vt:lpstr>Open Sans</vt:lpstr>
      <vt:lpstr>Tema de Office [1776361337070]</vt:lpstr>
      <vt:lpstr>Presentación de PowerPoint</vt:lpstr>
      <vt:lpstr>Chi siamo</vt:lpstr>
      <vt:lpstr>I nostri servizi</vt:lpstr>
      <vt:lpstr>Le nostre specialità</vt:lpstr>
      <vt:lpstr>Settori di attività</vt:lpstr>
      <vt:lpstr>Progetti di rilievo</vt:lpstr>
      <vt:lpstr>Presentación de PowerPoint</vt:lpstr>
      <vt:lpstr>Valori e certificazioni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Sevilla Guerra</dc:creator>
  <cp:lastModifiedBy>Daniel Sevilla Guerra</cp:lastModifiedBy>
  <cp:revision>7</cp:revision>
  <dcterms:created xsi:type="dcterms:W3CDTF">2026-04-16T17:17:23Z</dcterms:created>
  <dcterms:modified xsi:type="dcterms:W3CDTF">2026-04-18T17:22:04Z</dcterms:modified>
</cp:coreProperties>
</file>