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85" r:id="rId3"/>
  </p:sldMasterIdLst>
  <p:sldIdLst>
    <p:sldId id="262" r:id="rId4"/>
    <p:sldId id="263" r:id="rId5"/>
    <p:sldId id="265" r:id="rId6"/>
    <p:sldId id="267" r:id="rId7"/>
    <p:sldId id="269" r:id="rId8"/>
    <p:sldId id="271" r:id="rId9"/>
    <p:sldId id="272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D22B829-4AFB-4FFD-BAC8-BEE3211BE6F3}">
          <p14:sldIdLst>
            <p14:sldId id="262"/>
            <p14:sldId id="263"/>
            <p14:sldId id="265"/>
            <p14:sldId id="267"/>
            <p14:sldId id="269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BC29"/>
    <a:srgbClr val="002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>
      <p:cViewPr varScale="1">
        <p:scale>
          <a:sx n="100" d="100"/>
          <a:sy n="100" d="100"/>
        </p:scale>
        <p:origin x="17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pPr algn="ctr">
              <a:defRPr sz="1600" b="1"/>
            </a:pPr>
            <a:r>
              <a:rPr lang="es-ES" sz="1600" b="1"/>
              <a:t>Intervenciones por tipo (47)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66BC29"/>
              </a:solidFill>
            </c:spPr>
            <c:extLst>
              <c:ext xmlns:c16="http://schemas.microsoft.com/office/drawing/2014/chart" uri="{C3380CC4-5D6E-409C-BE32-E72D297353CC}">
                <c16:uniqueId val="{00000001-5E42-1542-A16D-07115062671B}"/>
              </c:ext>
            </c:extLst>
          </c:dPt>
          <c:dPt>
            <c:idx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3-5E42-1542-A16D-07115062671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2"/>
              <c:pt idx="0">
                <c:v>Preventivas</c:v>
              </c:pt>
              <c:pt idx="1">
                <c:v>Correctivas</c:v>
              </c:pt>
            </c:strLit>
          </c:cat>
          <c:val>
            <c:numLit>
              <c:formatCode>General</c:formatCode>
              <c:ptCount val="2"/>
              <c:pt idx="0">
                <c:v>32</c:v>
              </c:pt>
              <c:pt idx="1">
                <c:v>15</c:v>
              </c:pt>
            </c:numLit>
          </c:val>
          <c:extLst>
            <c:ext xmlns:c16="http://schemas.microsoft.com/office/drawing/2014/chart" uri="{C3380CC4-5D6E-409C-BE32-E72D297353CC}">
              <c16:uniqueId val="{00000004-5E42-1542-A16D-0711506267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400"/>
          </a:pPr>
          <a:endParaRPr lang="es-ES"/>
        </a:p>
      </c:txPr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pPr algn="ctr">
              <a:defRPr sz="1600" b="1"/>
            </a:pPr>
            <a:r>
              <a:rPr lang="es-ES" sz="1600" b="1"/>
              <a:t>Indicadores operativos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invertIfNegative val="1"/>
          <c:dPt>
            <c:idx val="0"/>
            <c:invertIfNegative val="0"/>
            <c:bubble3D val="0"/>
            <c:spPr>
              <a:solidFill>
                <a:srgbClr val="66BC29"/>
              </a:solidFill>
            </c:spPr>
            <c:extLst>
              <c:ext xmlns:c16="http://schemas.microsoft.com/office/drawing/2014/chart" uri="{C3380CC4-5D6E-409C-BE32-E72D297353CC}">
                <c16:uniqueId val="{00000001-7458-8D4A-BAB1-18AFB285B6B6}"/>
              </c:ext>
            </c:extLst>
          </c:dPt>
          <c:dPt>
            <c:idx val="1"/>
            <c:invertIfNegative val="0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3-7458-8D4A-BAB1-18AFB285B6B6}"/>
              </c:ext>
            </c:extLst>
          </c:dPt>
          <c:dPt>
            <c:idx val="2"/>
            <c:invertIfNegative val="0"/>
            <c:bubble3D val="0"/>
            <c:spPr>
              <a:solidFill>
                <a:srgbClr val="0F9ED5"/>
              </a:solidFill>
            </c:spPr>
            <c:extLst>
              <c:ext xmlns:c16="http://schemas.microsoft.com/office/drawing/2014/chart" uri="{C3380CC4-5D6E-409C-BE32-E72D297353CC}">
                <c16:uniqueId val="{00000005-7458-8D4A-BAB1-18AFB285B6B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Resolución 1ª visita (%)</c:v>
              </c:pt>
              <c:pt idx="1">
                <c:v>Preventivas (%)</c:v>
              </c:pt>
              <c:pt idx="2">
                <c:v>Respuesta urgencia (h)</c:v>
              </c:pt>
            </c:strLit>
          </c:cat>
          <c:val>
            <c:numLit>
              <c:formatCode>General</c:formatCode>
              <c:ptCount val="3"/>
              <c:pt idx="0">
                <c:v>78</c:v>
              </c:pt>
              <c:pt idx="1">
                <c:v>68</c:v>
              </c:pt>
              <c:pt idx="2">
                <c:v>2.8</c:v>
              </c:pt>
            </c:numLit>
          </c:val>
          <c:extLst>
            <c:ext xmlns:c16="http://schemas.microsoft.com/office/drawing/2014/chart" uri="{C3380CC4-5D6E-409C-BE32-E72D297353CC}">
              <c16:uniqueId val="{00000006-7458-8D4A-BAB1-18AFB285B6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"/>
        <c:axId val="2"/>
      </c:barChart>
      <c:catAx>
        <c:axId val="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s-E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t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s-E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59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44F5C-ECBD-171F-D59A-4209A80FA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3F193C-BCEE-13EB-F278-831D5D39B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5246A5-3B0F-1532-C195-8BF0FD78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FED256-901E-BB5E-3C33-ECA93600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E9C376-1B74-60AC-A464-25D18CC0A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77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CF302-E267-4AE0-B85F-93C9DF267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82E5DA-CC73-A3A7-B328-2585F6A94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07B382-B181-C90E-4A0C-ACC98A9E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B6B810-D9B3-D202-0680-694277A41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7B089C-D253-BF9A-CC1F-F8CBDB66B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854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F802B-9AA8-DEA5-21CB-817AA001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83EC81-EA3B-A05C-E70A-2225A3088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4D9B03-5F03-DA7E-904C-B93D1DB72E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FD3831-63D5-2C38-3386-A5822587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0A3D86-8C7C-B533-FCC9-11064AAE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493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DAB20-049D-CEEC-4C22-9B9843FA2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F368F7-B7AD-4E20-C871-A087F16DA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5C44D0-8CCD-129E-EFF0-5B85E6C07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011077-D57B-F4FE-A103-6D93C5F9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F5FFE2-48F3-D0CE-DA0C-95061834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219DCB-A29D-9B20-BAB7-2B27FCB2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297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FCEB9-257D-BA20-DE0C-276E9A9D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7E289F-A1A3-4225-9530-172183114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282539-020D-2C5C-139B-76285A5D9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A6758E-E242-60CF-65CC-4F25C7785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6FB9EC-DC4D-1DCD-5A32-A386B7EB2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BAB84F-8766-B906-D22B-E02259AA3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D1FC4D5-1AD9-13A7-B096-47F7D89C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8CC73F0-CDE0-FA88-9388-36B92FCB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50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67B9D-44E3-B766-A82F-13241FEE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2F6BF6-43C4-DF78-FE91-0D53C915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92B00FB-16D9-967A-B4BB-8D07483E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C3F5F7-14E4-1156-17BA-B6F21D66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562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FCF4EE-1C1B-6F9C-9F4A-42C69B63E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75FF2F-906A-921E-BC1D-DE742DAE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1372C1-308D-F656-5296-576B2F3C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373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5BBB1-53C2-4E20-FF76-527E9D90C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27C02D-40F5-359D-C924-9B45B7DE7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DBDD40-5BE4-DEFF-DF6C-35B566E78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68FD96-A3DD-D724-274B-F1B6AC8F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BEAD57-54B3-8CC8-0E23-939150B05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DA509D-FEC7-102C-ABEF-D818B1D1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819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1EDEE-F40A-8FA5-A892-243D639B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4716751-52DF-B920-79FE-E622A61DB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119254-91C6-2588-5D2F-FD35639F2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20DEF5-6202-358B-4B62-AA2C5FBE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7825C7-4C53-6152-85AB-71B3BA84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69B620-FF83-2B50-3881-BB054E86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951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9F5C3-E955-A167-183A-54AAD31B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1C10FC-90A5-A05A-36FD-1B34EF328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0A9D85-AC61-A300-3BAD-29853BB0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2AC4EB-74C1-2E09-2C38-BEA2BA00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83E497-4CB1-19B5-EF6D-3D83DE01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9858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0F0136-B476-D6BB-5905-79E1B5F08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008D97-E333-ADF2-FAE5-5DA70DB66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A54DC-358B-FCFC-C01E-96E386A034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2004F4-C841-4CAC-863B-38CB9E7902CD}" type="datetimeFigureOut">
              <a:rPr lang="es-ES" smtClean="0"/>
              <a:t>20/4/26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E06291-1992-582C-A0E1-8914CC3D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377D16-B5BF-6372-A3C8-B35E4A78A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E24A8A-6DC2-44E2-BF0B-4FF91A4728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6877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41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www.geinstal.com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BCA8962-15E6-07CC-FEA7-8369EE5760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7175" y="4854853"/>
            <a:ext cx="12449175" cy="2003147"/>
          </a:xfrm>
          <a:prstGeom prst="rect">
            <a:avLst/>
          </a:prstGeom>
        </p:spPr>
      </p:pic>
      <p:sp>
        <p:nvSpPr>
          <p:cNvPr id="14" name="Diagrama de flujo: entrada manual 13">
            <a:extLst>
              <a:ext uri="{FF2B5EF4-FFF2-40B4-BE49-F238E27FC236}">
                <a16:creationId xmlns:a16="http://schemas.microsoft.com/office/drawing/2014/main" id="{73F92E86-86D0-A4E3-B394-1504BC59A317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flowChartManualInput">
            <a:avLst/>
          </a:prstGeom>
          <a:solidFill>
            <a:srgbClr val="66BC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 descr="Logotipo&#10;&#10;Descripción generada automáticamente">
            <a:extLst>
              <a:ext uri="{FF2B5EF4-FFF2-40B4-BE49-F238E27FC236}">
                <a16:creationId xmlns:a16="http://schemas.microsoft.com/office/drawing/2014/main" id="{EA347F65-56DB-39C0-FD84-E3E957F3E3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512" y="2661942"/>
            <a:ext cx="5434013" cy="129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2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7CAF14-C693-FEFE-4AE5-4FC1564F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452F10-C302-D5D4-B19B-A665A1113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428FCDF3-1455-2EFB-2127-4CAEE57739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096"/>
          <a:stretch/>
        </p:blipFill>
        <p:spPr>
          <a:xfrm>
            <a:off x="10636352" y="4900161"/>
            <a:ext cx="838217" cy="74151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4EC951B-5F6D-FD5F-5E9D-ADEE66521CA6}"/>
              </a:ext>
            </a:extLst>
          </p:cNvPr>
          <p:cNvSpPr/>
          <p:nvPr userDrawn="1"/>
        </p:nvSpPr>
        <p:spPr>
          <a:xfrm>
            <a:off x="-1" y="0"/>
            <a:ext cx="1492371" cy="6858000"/>
          </a:xfrm>
          <a:prstGeom prst="rect">
            <a:avLst/>
          </a:prstGeom>
          <a:solidFill>
            <a:srgbClr val="66BC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riángulo rectángulo 8">
            <a:extLst>
              <a:ext uri="{FF2B5EF4-FFF2-40B4-BE49-F238E27FC236}">
                <a16:creationId xmlns:a16="http://schemas.microsoft.com/office/drawing/2014/main" id="{0069561F-C67F-0BE0-61EB-593D9EA1B84A}"/>
              </a:ext>
            </a:extLst>
          </p:cNvPr>
          <p:cNvSpPr/>
          <p:nvPr userDrawn="1"/>
        </p:nvSpPr>
        <p:spPr>
          <a:xfrm rot="16200000">
            <a:off x="9779660" y="4445659"/>
            <a:ext cx="1957839" cy="2866843"/>
          </a:xfrm>
          <a:prstGeom prst="rtTriangle">
            <a:avLst/>
          </a:prstGeom>
          <a:solidFill>
            <a:srgbClr val="002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D8D96FF5-5963-DF7C-FDC9-11297E5B2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096"/>
          <a:stretch/>
        </p:blipFill>
        <p:spPr>
          <a:xfrm>
            <a:off x="11055460" y="5865002"/>
            <a:ext cx="838217" cy="74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0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B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748BD923-2D5E-67F5-DD42-103B17E1E1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047" y="2928025"/>
            <a:ext cx="4209906" cy="10019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36784C3-7F48-ADE0-1863-0A790AB11D62}"/>
              </a:ext>
            </a:extLst>
          </p:cNvPr>
          <p:cNvSpPr txBox="1"/>
          <p:nvPr userDrawn="1"/>
        </p:nvSpPr>
        <p:spPr>
          <a:xfrm>
            <a:off x="8395856" y="5504873"/>
            <a:ext cx="3556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5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www.geinstal.com</a:t>
            </a:r>
            <a:endParaRPr lang="es-ES" sz="1050" dirty="0">
              <a:solidFill>
                <a:schemeClr val="bg1"/>
              </a:solidFill>
            </a:endParaRPr>
          </a:p>
          <a:p>
            <a:pPr algn="r"/>
            <a:r>
              <a:rPr lang="es-ES" sz="1050" dirty="0">
                <a:solidFill>
                  <a:schemeClr val="bg1"/>
                </a:solidFill>
              </a:rPr>
              <a:t>Edificio </a:t>
            </a:r>
            <a:r>
              <a:rPr lang="es-ES" sz="1050" dirty="0" err="1">
                <a:solidFill>
                  <a:schemeClr val="bg1"/>
                </a:solidFill>
              </a:rPr>
              <a:t>Cubic</a:t>
            </a:r>
            <a:endParaRPr lang="es-ES" sz="1050" dirty="0">
              <a:solidFill>
                <a:schemeClr val="bg1"/>
              </a:solidFill>
            </a:endParaRPr>
          </a:p>
          <a:p>
            <a:pPr algn="r"/>
            <a:r>
              <a:rPr lang="es-ES" sz="1050" dirty="0">
                <a:solidFill>
                  <a:schemeClr val="bg1"/>
                </a:solidFill>
              </a:rPr>
              <a:t>Av. Alcalde </a:t>
            </a:r>
            <a:r>
              <a:rPr lang="es-ES" sz="1050" dirty="0" err="1">
                <a:solidFill>
                  <a:schemeClr val="bg1"/>
                </a:solidFill>
              </a:rPr>
              <a:t>Barnils</a:t>
            </a:r>
            <a:r>
              <a:rPr lang="es-ES" sz="1050" dirty="0">
                <a:solidFill>
                  <a:schemeClr val="bg1"/>
                </a:solidFill>
              </a:rPr>
              <a:t>, 72 1ª pl.</a:t>
            </a:r>
          </a:p>
          <a:p>
            <a:pPr algn="r"/>
            <a:r>
              <a:rPr lang="es-ES" sz="1050" dirty="0">
                <a:solidFill>
                  <a:schemeClr val="bg1"/>
                </a:solidFill>
              </a:rPr>
              <a:t>08174 Sant Cugat del Vallès (Barcelona)</a:t>
            </a:r>
          </a:p>
          <a:p>
            <a:pPr algn="r"/>
            <a:r>
              <a:rPr lang="es-ES" sz="1050" dirty="0">
                <a:solidFill>
                  <a:schemeClr val="bg1"/>
                </a:solidFill>
              </a:rPr>
              <a:t>T. 93 454 15 00 F. 93 452 07 58</a:t>
            </a:r>
          </a:p>
          <a:p>
            <a:pPr algn="r"/>
            <a:r>
              <a:rPr lang="es-ES" sz="1050" dirty="0">
                <a:solidFill>
                  <a:schemeClr val="bg1"/>
                </a:solidFill>
              </a:rPr>
              <a:t>geinstal@geinstal.com</a:t>
            </a:r>
          </a:p>
        </p:txBody>
      </p:sp>
    </p:spTree>
    <p:extLst>
      <p:ext uri="{BB962C8B-B14F-4D97-AF65-F5344CB8AC3E}">
        <p14:creationId xmlns:p14="http://schemas.microsoft.com/office/powerpoint/2010/main" val="273263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ulo"/>
          <p:cNvSpPr txBox="1"/>
          <p:nvPr/>
        </p:nvSpPr>
        <p:spPr>
          <a:xfrm>
            <a:off x="685800" y="457200"/>
            <a:ext cx="10820400" cy="4000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2000" b="1" dirty="0">
                <a:solidFill>
                  <a:srgbClr val="66BC29"/>
                </a:solidFill>
              </a:rPr>
              <a:t>INFORME MENSUAL DE MANTENIMIENTO</a:t>
            </a:r>
          </a:p>
        </p:txBody>
      </p:sp>
      <p:sp>
        <p:nvSpPr>
          <p:cNvPr id="11" name="Titulo"/>
          <p:cNvSpPr txBox="1"/>
          <p:nvPr/>
        </p:nvSpPr>
        <p:spPr>
          <a:xfrm>
            <a:off x="685800" y="990600"/>
            <a:ext cx="10820400" cy="1000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6000" b="1" dirty="0">
                <a:solidFill>
                  <a:schemeClr val="tx1"/>
                </a:solidFill>
              </a:rPr>
              <a:t>Marzo 2026</a:t>
            </a:r>
          </a:p>
        </p:txBody>
      </p:sp>
      <p:sp>
        <p:nvSpPr>
          <p:cNvPr id="12" name="Empresa"/>
          <p:cNvSpPr txBox="1"/>
          <p:nvPr/>
        </p:nvSpPr>
        <p:spPr>
          <a:xfrm>
            <a:off x="685800" y="4191000"/>
            <a:ext cx="108204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2400" b="0" dirty="0">
                <a:solidFill>
                  <a:schemeClr val="tx1"/>
                </a:solidFill>
              </a:rPr>
              <a:t>GEINSTAL  ·  Departamento de Mantenimiento</a:t>
            </a:r>
          </a:p>
        </p:txBody>
      </p:sp>
    </p:spTree>
    <p:extLst>
      <p:ext uri="{BB962C8B-B14F-4D97-AF65-F5344CB8AC3E}">
        <p14:creationId xmlns:p14="http://schemas.microsoft.com/office/powerpoint/2010/main" val="1146435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10D42-230F-447F-E8C3-18A407AF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209" y="163107"/>
            <a:ext cx="10007895" cy="1325563"/>
          </a:xfrm>
        </p:spPr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chemeClr val="tx1"/>
                </a:solidFill>
              </a:rPr>
              <a:t>Resumen ejecutivo</a:t>
            </a:r>
          </a:p>
          <a:p>
            <a:pPr algn="l">
              <a:buNone/>
            </a:pPr>
            <a:r>
              <a:rPr lang="es-ES" sz="1800" b="0" dirty="0">
                <a:solidFill>
                  <a:srgbClr val="66BC29"/>
                </a:solidFill>
              </a:rPr>
              <a:t>Marzo 2026  ·  Departamento de Mantenimiento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3640A-EEBD-3947-FF05-6D4AA50E8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01209" y="1687402"/>
            <a:ext cx="4680098" cy="4351338"/>
          </a:xfrm>
        </p:spPr>
        <p:txBody>
          <a:bodyPr/>
          <a:lstStyle/>
          <a:p>
            <a:pPr marL="0" indent="0" algn="l">
              <a:buNone/>
            </a:pPr>
            <a:r>
              <a:rPr lang="es-ES" sz="2000" b="1" dirty="0">
                <a:solidFill>
                  <a:srgbClr val="66BC29"/>
                </a:solidFill>
              </a:rPr>
              <a:t>CONTEXTO DEL MES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b="1" dirty="0">
                <a:solidFill>
                  <a:schemeClr val="tx1"/>
                </a:solidFill>
              </a:rPr>
              <a:t>47 intervenciones</a:t>
            </a:r>
            <a:r>
              <a:rPr lang="es-ES" sz="1600" dirty="0">
                <a:solidFill>
                  <a:schemeClr val="tx1"/>
                </a:solidFill>
              </a:rPr>
              <a:t> ejecutadas: 32 preventivas y 15 correctivas.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Tiempo medio de respuesta en urgencias de </a:t>
            </a:r>
            <a:r>
              <a:rPr lang="es-ES" sz="1600" b="1" dirty="0">
                <a:solidFill>
                  <a:schemeClr val="tx1"/>
                </a:solidFill>
              </a:rPr>
              <a:t>2,8 h</a:t>
            </a:r>
            <a:r>
              <a:rPr lang="es-ES" sz="1600" dirty="0">
                <a:solidFill>
                  <a:schemeClr val="tx1"/>
                </a:solidFill>
              </a:rPr>
              <a:t>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Tasa de resolución en primera visita: </a:t>
            </a:r>
            <a:r>
              <a:rPr lang="es-ES" sz="1600" b="1" dirty="0">
                <a:solidFill>
                  <a:schemeClr val="tx1"/>
                </a:solidFill>
              </a:rPr>
              <a:t>78 %</a:t>
            </a:r>
            <a:r>
              <a:rPr lang="es-ES" sz="1600" dirty="0">
                <a:solidFill>
                  <a:schemeClr val="tx1"/>
                </a:solidFill>
              </a:rPr>
              <a:t>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Clientes de mayor actividad: Vall d’Hebron (8) y SEAT Martorell (4).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5551A7-3CA5-0F4C-FFA8-A768C0610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7504" y="1687402"/>
            <a:ext cx="5181600" cy="4351338"/>
          </a:xfrm>
        </p:spPr>
        <p:txBody>
          <a:bodyPr/>
          <a:lstStyle/>
          <a:p>
            <a:pPr marL="0" indent="0" algn="l">
              <a:buNone/>
            </a:pPr>
            <a:r>
              <a:rPr lang="es-ES" sz="2000" b="1" dirty="0">
                <a:solidFill>
                  <a:srgbClr val="66BC29"/>
                </a:solidFill>
              </a:rPr>
              <a:t>CONCLUSIONES Y ALERTAS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Desempeño global dentro de objetivos, con carga de trabajo orientada al mantenimiento preventivo (68 %).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b="1" dirty="0">
                <a:solidFill>
                  <a:srgbClr val="C00000"/>
                </a:solidFill>
              </a:rPr>
              <a:t>Alerta SEAT Martorell: </a:t>
            </a:r>
            <a:r>
              <a:rPr lang="es-ES" sz="1600" dirty="0">
                <a:solidFill>
                  <a:schemeClr val="tx1"/>
                </a:solidFill>
              </a:rPr>
              <a:t>3 urgencias sin resolver en primera visita.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Técnico más productivo: </a:t>
            </a:r>
            <a:r>
              <a:rPr lang="es-ES" sz="1600" b="1" dirty="0">
                <a:solidFill>
                  <a:schemeClr val="tx1"/>
                </a:solidFill>
              </a:rPr>
              <a:t>J. Sánchez (34 OT)</a:t>
            </a:r>
            <a:r>
              <a:rPr lang="es-ES" sz="1600" dirty="0">
                <a:solidFill>
                  <a:schemeClr val="tx1"/>
                </a:solidFill>
              </a:rPr>
              <a:t>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Acción pendiente: reasignación de técnico y refuerzo de stock en SEAT.</a:t>
            </a:r>
          </a:p>
        </p:txBody>
      </p:sp>
    </p:spTree>
    <p:extLst>
      <p:ext uri="{BB962C8B-B14F-4D97-AF65-F5344CB8AC3E}">
        <p14:creationId xmlns:p14="http://schemas.microsoft.com/office/powerpoint/2010/main" val="333042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10D42-230F-447F-E8C3-18A407AF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209" y="163107"/>
            <a:ext cx="10007895" cy="1325563"/>
          </a:xfrm>
        </p:spPr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chemeClr val="tx1"/>
                </a:solidFill>
              </a:rPr>
              <a:t>Datos clave del mes</a:t>
            </a:r>
          </a:p>
          <a:p>
            <a:pPr algn="l">
              <a:buNone/>
            </a:pPr>
            <a:r>
              <a:rPr lang="es-ES" sz="1800" b="0" dirty="0">
                <a:solidFill>
                  <a:srgbClr val="66BC29"/>
                </a:solidFill>
              </a:rPr>
              <a:t>Distribución de intervenciones e indicadores operativos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1701800" y="1689100"/>
          <a:ext cx="4686300" cy="435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2" name="Chart 2"/>
          <p:cNvGraphicFramePr/>
          <p:nvPr/>
        </p:nvGraphicFramePr>
        <p:xfrm>
          <a:off x="6527800" y="1689100"/>
          <a:ext cx="5181600" cy="435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68834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10D42-230F-447F-E8C3-18A407AF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209" y="163107"/>
            <a:ext cx="10007895" cy="1325563"/>
          </a:xfrm>
        </p:spPr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chemeClr val="tx1"/>
                </a:solidFill>
              </a:rPr>
              <a:t>Análisis por cliente</a:t>
            </a:r>
          </a:p>
          <a:p>
            <a:pPr algn="l">
              <a:buNone/>
            </a:pPr>
            <a:r>
              <a:rPr lang="es-ES" sz="1800" b="0" dirty="0">
                <a:solidFill>
                  <a:srgbClr val="66BC29"/>
                </a:solidFill>
              </a:rPr>
              <a:t>Clientes con mayor volumen de incidencias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3640A-EEBD-3947-FF05-6D4AA50E8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01209" y="1687402"/>
            <a:ext cx="4680098" cy="4351338"/>
          </a:xfrm>
        </p:spPr>
        <p:txBody>
          <a:bodyPr/>
          <a:lstStyle/>
          <a:p>
            <a:pPr marL="0" indent="0" algn="l">
              <a:buNone/>
            </a:pPr>
            <a:r>
              <a:rPr lang="es-ES" sz="2000" b="1" dirty="0">
                <a:solidFill>
                  <a:srgbClr val="66BC29"/>
                </a:solidFill>
              </a:rPr>
              <a:t>TOP CLIENTES</a:t>
            </a:r>
          </a:p>
          <a:p>
            <a:pPr marL="228600" indent="-228600" algn="l">
              <a:spcBef>
                <a:spcPts val="800"/>
              </a:spcBef>
              <a:buFont typeface="Arial"/>
              <a:buChar char="•"/>
            </a:pPr>
            <a:r>
              <a:rPr lang="es-ES" sz="1800" b="1" dirty="0">
                <a:solidFill>
                  <a:schemeClr val="tx1"/>
                </a:solidFill>
              </a:rPr>
              <a:t>Vall d’Hebron — 8 intervenciones</a:t>
            </a:r>
          </a:p>
          <a:p>
            <a:pPr marL="457200" indent="0" algn="l">
              <a:buNone/>
            </a:pPr>
            <a:r>
              <a:rPr lang="es-ES" sz="1400" dirty="0">
                <a:solidFill>
                  <a:schemeClr val="tx1"/>
                </a:solidFill>
              </a:rPr>
              <a:t>Mix habitual preventivo/correctivo. Resolución en plazo; sin incidencias críticas.</a:t>
            </a:r>
          </a:p>
          <a:p>
            <a:pPr marL="228600" indent="-228600" algn="l">
              <a:spcBef>
                <a:spcPts val="800"/>
              </a:spcBef>
              <a:buFont typeface="Arial"/>
              <a:buChar char="•"/>
            </a:pPr>
            <a:r>
              <a:rPr lang="es-ES" sz="1800" b="1" dirty="0">
                <a:solidFill>
                  <a:schemeClr val="tx1"/>
                </a:solidFill>
              </a:rPr>
              <a:t>SEAT Martorell — 4 intervenciones</a:t>
            </a:r>
          </a:p>
          <a:p>
            <a:pPr marL="457200" indent="0" algn="l">
              <a:buNone/>
            </a:pPr>
            <a:r>
              <a:rPr lang="es-ES" sz="1400" dirty="0">
                <a:solidFill>
                  <a:srgbClr val="C00000"/>
                </a:solidFill>
              </a:rPr>
              <a:t>Tendencia negativa: 3 urgencias sin resolver en 1ª visita.</a:t>
            </a:r>
          </a:p>
          <a:p>
            <a:pPr marL="228600" indent="-228600" algn="l">
              <a:spcBef>
                <a:spcPts val="800"/>
              </a:spcBef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Resto de cartera: 35 intervenciones distribuidas sin concentración relevante.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5551A7-3CA5-0F4C-FFA8-A768C0610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7504" y="1687402"/>
            <a:ext cx="5181600" cy="4351338"/>
          </a:xfrm>
        </p:spPr>
        <p:txBody>
          <a:bodyPr/>
          <a:lstStyle/>
          <a:p>
            <a:pPr marL="0" indent="0" algn="l">
              <a:buNone/>
            </a:pPr>
            <a:r>
              <a:rPr lang="es-ES" sz="2000" b="1" dirty="0">
                <a:solidFill>
                  <a:srgbClr val="C00000"/>
                </a:solidFill>
              </a:rPr>
              <a:t>ALERTA: SEAT MARTORELL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3 de 4 intervenciones han sido urgencias sin resolución en primera visita (75 %).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Se detecta falta de repuestos específicos en el vehículo de intervención.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Riesgo de penalización contractual por tiempo de parada de equipos críticos.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s-ES" sz="1600" b="1" dirty="0">
                <a:solidFill>
                  <a:srgbClr val="66BC29"/>
                </a:solidFill>
              </a:rPr>
              <a:t>Recomendación inmediata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Reasignar técnico especializado y reforzar stock de repuestos de sus equipos.</a:t>
            </a:r>
          </a:p>
        </p:txBody>
      </p:sp>
    </p:spTree>
    <p:extLst>
      <p:ext uri="{BB962C8B-B14F-4D97-AF65-F5344CB8AC3E}">
        <p14:creationId xmlns:p14="http://schemas.microsoft.com/office/powerpoint/2010/main" val="1471815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10D42-230F-447F-E8C3-18A407AF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209" y="163107"/>
            <a:ext cx="10007895" cy="1325563"/>
          </a:xfrm>
        </p:spPr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chemeClr val="tx1"/>
                </a:solidFill>
              </a:rPr>
              <a:t>Rendimiento del equipo</a:t>
            </a:r>
          </a:p>
          <a:p>
            <a:pPr algn="l">
              <a:buNone/>
            </a:pPr>
            <a:r>
              <a:rPr lang="es-ES" sz="1800" b="0" dirty="0">
                <a:solidFill>
                  <a:srgbClr val="66BC29"/>
                </a:solidFill>
              </a:rPr>
              <a:t>Productividad y eficacia por técnico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3640A-EEBD-3947-FF05-6D4AA50E8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01209" y="1687402"/>
            <a:ext cx="4680098" cy="4351338"/>
          </a:xfrm>
        </p:spPr>
        <p:txBody>
          <a:bodyPr/>
          <a:lstStyle/>
          <a:p>
            <a:pPr marL="0" indent="0" algn="l">
              <a:buNone/>
            </a:pPr>
            <a:r>
              <a:rPr lang="es-ES" sz="2000" b="1" dirty="0">
                <a:solidFill>
                  <a:srgbClr val="66BC29"/>
                </a:solidFill>
              </a:rPr>
              <a:t>TÉCNICO MÁS ACTIVO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s-ES" sz="2800" b="1" dirty="0">
                <a:solidFill>
                  <a:schemeClr val="tx1"/>
                </a:solidFill>
              </a:rPr>
              <a:t>J. Sánchez</a:t>
            </a:r>
          </a:p>
          <a:p>
            <a:pPr marL="0" indent="0" algn="l">
              <a:buNone/>
            </a:pPr>
            <a:r>
              <a:rPr lang="es-ES" sz="1800" dirty="0">
                <a:solidFill>
                  <a:schemeClr val="tx1"/>
                </a:solidFill>
              </a:rPr>
              <a:t>34 órdenes de trabajo gestionadas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Representa el 72 % del total de intervenciones del mes.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Alta concentración: evaluar redistribución de carga.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5551A7-3CA5-0F4C-FFA8-A768C0610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7504" y="1687402"/>
            <a:ext cx="5181600" cy="4351338"/>
          </a:xfrm>
        </p:spPr>
        <p:txBody>
          <a:bodyPr/>
          <a:lstStyle/>
          <a:p>
            <a:pPr marL="0" indent="0" algn="l">
              <a:buNone/>
            </a:pPr>
            <a:r>
              <a:rPr lang="es-ES" sz="2000" b="1" dirty="0">
                <a:solidFill>
                  <a:srgbClr val="C00000"/>
                </a:solidFill>
              </a:rPr>
              <a:t>MENOR TASA DE RESOLUCIÓN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s-ES" sz="2800" b="1" dirty="0">
                <a:solidFill>
                  <a:schemeClr val="tx1"/>
                </a:solidFill>
              </a:rPr>
              <a:t>D. Rodríguez</a:t>
            </a:r>
          </a:p>
          <a:p>
            <a:pPr marL="0" indent="0" algn="l">
              <a:buNone/>
            </a:pPr>
            <a:r>
              <a:rPr lang="es-ES" sz="1800" dirty="0">
                <a:solidFill>
                  <a:schemeClr val="tx1"/>
                </a:solidFill>
              </a:rPr>
              <a:t>50 % de resolución en primera visita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28 puntos por debajo de la media del equipo (78 %).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Programar formación específica y acompañamiento en campo.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Revisar tipología de OT asignadas para diagnóstico causa raíz.</a:t>
            </a:r>
          </a:p>
        </p:txBody>
      </p:sp>
    </p:spTree>
    <p:extLst>
      <p:ext uri="{BB962C8B-B14F-4D97-AF65-F5344CB8AC3E}">
        <p14:creationId xmlns:p14="http://schemas.microsoft.com/office/powerpoint/2010/main" val="265959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10D42-230F-447F-E8C3-18A407AF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209" y="163107"/>
            <a:ext cx="10007895" cy="1325563"/>
          </a:xfrm>
        </p:spPr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chemeClr val="tx1"/>
                </a:solidFill>
              </a:rPr>
              <a:t>Acciones pendientes para abril</a:t>
            </a:r>
          </a:p>
          <a:p>
            <a:pPr algn="l">
              <a:buNone/>
            </a:pPr>
            <a:r>
              <a:rPr lang="es-ES" sz="1800" b="0" dirty="0">
                <a:solidFill>
                  <a:srgbClr val="66BC29"/>
                </a:solidFill>
              </a:rPr>
              <a:t>Plan de acción y responsables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3640A-EEBD-3947-FF05-6D4AA50E8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01209" y="1687402"/>
            <a:ext cx="4680098" cy="4351338"/>
          </a:xfrm>
        </p:spPr>
        <p:txBody>
          <a:bodyPr/>
          <a:lstStyle/>
          <a:p>
            <a:pPr marL="0" indent="0" algn="l">
              <a:buNone/>
            </a:pPr>
            <a:r>
              <a:rPr lang="es-ES" sz="2000" b="1" dirty="0">
                <a:solidFill>
                  <a:srgbClr val="C00000"/>
                </a:solidFill>
              </a:rPr>
              <a:t>PRIORIDAD ALTA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b="1" dirty="0">
                <a:solidFill>
                  <a:schemeClr val="tx1"/>
                </a:solidFill>
              </a:rPr>
              <a:t>Reasignar técnico en SEAT Martorell.</a:t>
            </a:r>
          </a:p>
          <a:p>
            <a:pPr marL="457200" indent="0" algn="l">
              <a:buNone/>
            </a:pPr>
            <a:r>
              <a:rPr lang="es-ES" sz="1400" dirty="0">
                <a:solidFill>
                  <a:schemeClr val="tx1"/>
                </a:solidFill>
              </a:rPr>
              <a:t>Resp.: Jefe de equipo  ·  Plazo: 1ª semana abril.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b="1" dirty="0">
                <a:solidFill>
                  <a:schemeClr val="tx1"/>
                </a:solidFill>
              </a:rPr>
              <a:t>Reforzar stock de repuestos de equipos SEAT.</a:t>
            </a:r>
          </a:p>
          <a:p>
            <a:pPr marL="457200" indent="0" algn="l">
              <a:buNone/>
            </a:pPr>
            <a:r>
              <a:rPr lang="es-ES" sz="1400" dirty="0">
                <a:solidFill>
                  <a:schemeClr val="tx1"/>
                </a:solidFill>
              </a:rPr>
              <a:t>Resp.: Compras + Almacén  ·  Plazo: 15 abril.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b="1" dirty="0">
                <a:solidFill>
                  <a:schemeClr val="tx1"/>
                </a:solidFill>
              </a:rPr>
              <a:t>Cerrar 3 urgencias abiertas en primera visita de abril.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5551A7-3CA5-0F4C-FFA8-A768C0610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7504" y="1687402"/>
            <a:ext cx="5181600" cy="4351338"/>
          </a:xfrm>
        </p:spPr>
        <p:txBody>
          <a:bodyPr/>
          <a:lstStyle/>
          <a:p>
            <a:pPr marL="0" indent="0" algn="l">
              <a:buNone/>
            </a:pPr>
            <a:r>
              <a:rPr lang="es-ES" sz="2000" b="1" dirty="0">
                <a:solidFill>
                  <a:srgbClr val="66BC29"/>
                </a:solidFill>
              </a:rPr>
              <a:t>SEGUIMIENTO Y MEJORA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b="1" dirty="0">
                <a:solidFill>
                  <a:schemeClr val="tx1"/>
                </a:solidFill>
              </a:rPr>
              <a:t>Plan formativo para D. Rodríguez.</a:t>
            </a:r>
          </a:p>
          <a:p>
            <a:pPr marL="457200" indent="0" algn="l">
              <a:buNone/>
            </a:pPr>
            <a:r>
              <a:rPr lang="es-ES" sz="1400" dirty="0">
                <a:solidFill>
                  <a:schemeClr val="tx1"/>
                </a:solidFill>
              </a:rPr>
              <a:t>Objetivo: elevar resolución 1ª visita del 50 % al 70 %.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b="1" dirty="0">
                <a:solidFill>
                  <a:schemeClr val="tx1"/>
                </a:solidFill>
              </a:rPr>
              <a:t>Redistribución de carga de trabajo.</a:t>
            </a:r>
          </a:p>
          <a:p>
            <a:pPr marL="457200" indent="0" algn="l">
              <a:buNone/>
            </a:pPr>
            <a:r>
              <a:rPr lang="es-ES" sz="1400" dirty="0">
                <a:solidFill>
                  <a:schemeClr val="tx1"/>
                </a:solidFill>
              </a:rPr>
              <a:t>Equilibrar las 34 OT concentradas en J. Sánchez.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s-ES" sz="1600" b="1" dirty="0">
                <a:solidFill>
                  <a:schemeClr val="tx1"/>
                </a:solidFill>
              </a:rPr>
              <a:t>KPI objetivo abril.</a:t>
            </a:r>
          </a:p>
          <a:p>
            <a:pPr marL="457200" indent="0" algn="l">
              <a:buNone/>
            </a:pPr>
            <a:r>
              <a:rPr lang="es-ES" sz="1400" dirty="0">
                <a:solidFill>
                  <a:schemeClr val="tx1"/>
                </a:solidFill>
              </a:rPr>
              <a:t>Respuesta urgencia &lt; 2,5 h  ·  Resolución 1ª visita &gt; 82 %.</a:t>
            </a:r>
          </a:p>
        </p:txBody>
      </p:sp>
    </p:spTree>
    <p:extLst>
      <p:ext uri="{BB962C8B-B14F-4D97-AF65-F5344CB8AC3E}">
        <p14:creationId xmlns:p14="http://schemas.microsoft.com/office/powerpoint/2010/main" val="270587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racias"/>
          <p:cNvSpPr txBox="1"/>
          <p:nvPr/>
        </p:nvSpPr>
        <p:spPr>
          <a:xfrm>
            <a:off x="685800" y="685800"/>
            <a:ext cx="10820400" cy="12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6000" b="1" dirty="0">
                <a:solidFill>
                  <a:schemeClr val="tx1"/>
                </a:solidFill>
              </a:rPr>
              <a:t>Gracias</a:t>
            </a:r>
          </a:p>
        </p:txBody>
      </p:sp>
      <p:sp>
        <p:nvSpPr>
          <p:cNvPr id="21" name="Contacto"/>
          <p:cNvSpPr txBox="1"/>
          <p:nvPr/>
        </p:nvSpPr>
        <p:spPr>
          <a:xfrm>
            <a:off x="685800" y="4191000"/>
            <a:ext cx="10820400" cy="8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2000" b="1" dirty="0">
                <a:solidFill>
                  <a:srgbClr val="66BC29"/>
                </a:solidFill>
              </a:rPr>
              <a:t>Departamento de Mantenimiento  ·  GEINSTAL</a:t>
            </a:r>
          </a:p>
          <a:p>
            <a:pPr algn="ctr">
              <a:buNone/>
            </a:pPr>
            <a:r>
              <a:rPr lang="es-ES" sz="1600" b="0" dirty="0">
                <a:solidFill>
                  <a:schemeClr val="tx1"/>
                </a:solidFill>
              </a:rPr>
              <a:t>Informe ejecutivo  ·  Marzo 2026</a:t>
            </a:r>
          </a:p>
        </p:txBody>
      </p:sp>
    </p:spTree>
    <p:extLst>
      <p:ext uri="{BB962C8B-B14F-4D97-AF65-F5344CB8AC3E}">
        <p14:creationId xmlns:p14="http://schemas.microsoft.com/office/powerpoint/2010/main" val="15844004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rgbClr val="002942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2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3" id="{7F381B83-D59E-4DA4-A0BC-1C859CBEDB0A}" vid="{185D89FD-9FAE-4BD7-B9C8-AAE4B98FE0E4}"/>
    </a:ext>
  </a:extLst>
</a:theme>
</file>

<file path=ppt/theme/theme2.xml><?xml version="1.0" encoding="utf-8"?>
<a:theme xmlns:a="http://schemas.openxmlformats.org/drawingml/2006/main" name="1_Diseño personalizado">
  <a:themeElements>
    <a:clrScheme name="Personalizado 4">
      <a:dk1>
        <a:srgbClr val="002942"/>
      </a:dk1>
      <a:lt1>
        <a:sysClr val="window" lastClr="FFFFFF"/>
      </a:lt1>
      <a:dk2>
        <a:srgbClr val="1F497D"/>
      </a:dk2>
      <a:lt2>
        <a:srgbClr val="EEECE1"/>
      </a:lt2>
      <a:accent1>
        <a:srgbClr val="002942"/>
      </a:accent1>
      <a:accent2>
        <a:srgbClr val="C0504D"/>
      </a:accent2>
      <a:accent3>
        <a:srgbClr val="66BC2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2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3" id="{7F381B83-D59E-4DA4-A0BC-1C859CBEDB0A}" vid="{A975B7B9-28FB-460D-9529-60EEE2098DD4}"/>
    </a:ext>
  </a:extLst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3" id="{7F381B83-D59E-4DA4-A0BC-1C859CBEDB0A}" vid="{36F0E12B-791D-4FE3-987B-D12307D7F0D2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6B978D-C5F7-FF4E-B0EF-03F4323D45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c53f414-178b-4a78-97fd-518eaa569ef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13</TotalTime>
  <Words>460</Words>
  <Application>Microsoft Macintosh PowerPoint</Application>
  <PresentationFormat>Panorámica</PresentationFormat>
  <Paragraphs>64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Arial</vt:lpstr>
      <vt:lpstr>Tema de Office</vt:lpstr>
      <vt:lpstr>1_Diseño personalizado</vt:lpstr>
      <vt:lpstr>Diseño personalizado</vt:lpstr>
      <vt:lpstr>Presentación de PowerPoint</vt:lpstr>
      <vt:lpstr>Resumen ejecutivo Marzo 2026  ·  Departamento de Mantenimiento</vt:lpstr>
      <vt:lpstr>Datos clave del mes Distribución de intervenciones e indicadores operativos</vt:lpstr>
      <vt:lpstr>Análisis por cliente Clientes con mayor volumen de incidencias</vt:lpstr>
      <vt:lpstr>Rendimiento del equipo Productividad y eficacia por técnico</vt:lpstr>
      <vt:lpstr>Acciones pendientes para abril Plan de acción y responsables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Sevilla Guerra</dc:creator>
  <cp:lastModifiedBy>Daniel Sevilla Guerra</cp:lastModifiedBy>
  <cp:revision>5</cp:revision>
  <dcterms:created xsi:type="dcterms:W3CDTF">2026-04-20T09:19:05Z</dcterms:created>
  <dcterms:modified xsi:type="dcterms:W3CDTF">2026-04-20T09:43:33Z</dcterms:modified>
</cp:coreProperties>
</file>