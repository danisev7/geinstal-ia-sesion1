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63" r:id="rId3"/>
    <p:sldId id="269" r:id="rId4"/>
    <p:sldId id="264" r:id="rId5"/>
    <p:sldId id="266" r:id="rId6"/>
    <p:sldId id="268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7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76" y="2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513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48640" y="4663440"/>
            <a:ext cx="8595360" cy="4572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Users/ironmac/Dev-local/formacion-gesinstal/docs/logo_gein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365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333333"/>
                </a:solidFill>
                <a:latin typeface="Arial" pitchFamily="34" charset="0"/>
              </a:rPr>
              <a:t>Informe Mensual</a:t>
            </a:r>
          </a:p>
        </p:txBody>
      </p:sp>
      <p:sp>
        <p:nvSpPr>
          <p:cNvPr id="6" name="Text 3"/>
          <p:cNvSpPr/>
          <p:nvPr/>
        </p:nvSpPr>
        <p:spPr>
          <a:xfrm>
            <a:off x="173736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800" dirty="0">
                <a:solidFill>
                  <a:srgbClr val="7AB800"/>
                </a:solidFill>
                <a:latin typeface="Arial" pitchFamily="34" charset="0"/>
              </a:rPr>
              <a:t>Departamento de Mantenimiento</a:t>
            </a:r>
          </a:p>
        </p:txBody>
      </p:sp>
      <p:sp>
        <p:nvSpPr>
          <p:cNvPr id="7" name="Text 4"/>
          <p:cNvSpPr/>
          <p:nvPr/>
        </p:nvSpPr>
        <p:spPr>
          <a:xfrm>
            <a:off x="1737360" y="1371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i="1" dirty="0">
                <a:solidFill>
                  <a:srgbClr val="666666"/>
                </a:solidFill>
                <a:latin typeface="Arial" pitchFamily="34" charset="0"/>
              </a:rPr>
              <a:t>Marzo 2026</a:t>
            </a:r>
          </a:p>
        </p:txBody>
      </p:sp>
      <p:sp>
        <p:nvSpPr>
          <p:cNvPr id="8" name="Text 5"/>
          <p:cNvSpPr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Geinstal · Mantenimiento Integral e Instalaciones Electromecánicas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53580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48640" y="4663440"/>
            <a:ext cx="8595360" cy="4572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Users/ironmac/Dev-local/formacion-gesinstal/docs/logo_gein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Geinstal · Mantenimiento Integral e Instalaciones Electromecánicas</a:t>
            </a:r>
            <a:endParaRPr lang="en-US" sz="900" dirty="0"/>
          </a:p>
        </p:txBody>
      </p:sp>
      <p:sp>
        <p:nvSpPr>
          <p:cNvPr id="10" name="RE Title"/>
          <p:cNvSpPr/>
          <p:nvPr/>
        </p:nvSpPr>
        <p:spPr>
          <a:xfrm>
            <a:off x="1739900" y="368300"/>
            <a:ext cx="6400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s-ES" sz="2400" b="1" dirty="0">
                <a:solidFill>
                  <a:srgbClr val="333333"/>
                </a:solidFill>
                <a:latin typeface="Arial"/>
              </a:rPr>
              <a:t>Resumen Ejecutivo</a:t>
            </a:r>
          </a:p>
        </p:txBody>
      </p:sp>
      <p:sp>
        <p:nvSpPr>
          <p:cNvPr id="11" name="RE Subtitle"/>
          <p:cNvSpPr/>
          <p:nvPr/>
        </p:nvSpPr>
        <p:spPr>
          <a:xfrm>
            <a:off x="1739900" y="774700"/>
            <a:ext cx="640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s-ES" sz="1400" dirty="0">
                <a:solidFill>
                  <a:srgbClr val="7AB800"/>
                </a:solidFill>
                <a:latin typeface="Arial"/>
              </a:rPr>
              <a:t>Mantenimiento · Marzo 2026</a:t>
            </a:r>
          </a:p>
        </p:txBody>
      </p:sp>
      <p:sp>
        <p:nvSpPr>
          <p:cNvPr id="12" name="RE Divider"/>
          <p:cNvSpPr/>
          <p:nvPr/>
        </p:nvSpPr>
        <p:spPr>
          <a:xfrm>
            <a:off x="1739900" y="1092200"/>
            <a:ext cx="6400800" cy="25400"/>
          </a:xfrm>
          <a:prstGeom prst="rect">
            <a:avLst/>
          </a:prstGeom>
          <a:solidFill>
            <a:srgbClr val="7AB8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RE Content"/>
          <p:cNvSpPr/>
          <p:nvPr/>
        </p:nvSpPr>
        <p:spPr>
          <a:xfrm>
            <a:off x="774700" y="1219200"/>
            <a:ext cx="7366000" cy="3365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228600" indent="-228600">
              <a:spcAft>
                <a:spcPts val="500"/>
              </a:spcAft>
              <a:buFont typeface="Arial"/>
              <a:buChar char="●"/>
            </a:pPr>
            <a:r>
              <a:rPr lang="es-ES" sz="1400" dirty="0">
                <a:solidFill>
                  <a:srgbClr val="333333"/>
                </a:solidFill>
                <a:latin typeface="Arial"/>
              </a:rPr>
              <a:t>Se completaron </a:t>
            </a:r>
            <a:r>
              <a:rPr lang="es-ES" sz="1400" b="1" dirty="0">
                <a:solidFill>
                  <a:srgbClr val="7AB800"/>
                </a:solidFill>
                <a:latin typeface="Arial"/>
              </a:rPr>
              <a:t>47 intervenciones</a:t>
            </a:r>
            <a:r>
              <a:rPr lang="es-ES" sz="1400" dirty="0">
                <a:solidFill>
                  <a:srgbClr val="333333"/>
                </a:solidFill>
                <a:latin typeface="Arial"/>
              </a:rPr>
              <a:t> en marzo: 32 preventivas (68%) y 15 correctivas (32%).</a:t>
            </a:r>
          </a:p>
          <a:p>
            <a:pPr marL="228600" indent="-228600">
              <a:spcAft>
                <a:spcPts val="500"/>
              </a:spcAft>
              <a:buFont typeface="Arial"/>
              <a:buChar char="●"/>
            </a:pPr>
            <a:r>
              <a:rPr lang="es-ES" sz="1400" dirty="0">
                <a:solidFill>
                  <a:srgbClr val="333333"/>
                </a:solidFill>
                <a:latin typeface="Arial"/>
              </a:rPr>
              <a:t>Tiempo medio de respuesta en urgencias: </a:t>
            </a:r>
            <a:r>
              <a:rPr lang="es-ES" sz="1400" b="1" dirty="0">
                <a:solidFill>
                  <a:srgbClr val="7AB800"/>
                </a:solidFill>
                <a:latin typeface="Arial"/>
              </a:rPr>
              <a:t>2,8 horas</a:t>
            </a:r>
            <a:r>
              <a:rPr lang="es-ES" sz="14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marL="228600" indent="-228600">
              <a:spcAft>
                <a:spcPts val="500"/>
              </a:spcAft>
              <a:buFont typeface="Arial"/>
              <a:buChar char="●"/>
            </a:pPr>
            <a:r>
              <a:rPr lang="es-ES" sz="1400" dirty="0">
                <a:solidFill>
                  <a:srgbClr val="333333"/>
                </a:solidFill>
                <a:latin typeface="Arial"/>
              </a:rPr>
              <a:t>Tasa de resolución en primera visita: </a:t>
            </a:r>
            <a:r>
              <a:rPr lang="es-ES" sz="1400" b="1" dirty="0">
                <a:solidFill>
                  <a:srgbClr val="7AB800"/>
                </a:solidFill>
                <a:latin typeface="Arial"/>
              </a:rPr>
              <a:t>78%</a:t>
            </a:r>
            <a:r>
              <a:rPr lang="es-ES" sz="14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marL="228600" indent="-228600">
              <a:spcAft>
                <a:spcPts val="500"/>
              </a:spcAft>
              <a:buFont typeface="Arial"/>
              <a:buChar char="●"/>
            </a:pPr>
            <a:r>
              <a:rPr lang="es-ES" sz="1400" dirty="0">
                <a:solidFill>
                  <a:srgbClr val="333333"/>
                </a:solidFill>
                <a:latin typeface="Arial"/>
              </a:rPr>
              <a:t>Clientes con más incidencias: </a:t>
            </a:r>
            <a:r>
              <a:rPr lang="es-ES" sz="1400" b="1" dirty="0">
                <a:solidFill>
                  <a:srgbClr val="333333"/>
                </a:solidFill>
                <a:latin typeface="Arial"/>
              </a:rPr>
              <a:t>Vall d'Hebron (8)</a:t>
            </a:r>
            <a:r>
              <a:rPr lang="es-ES" sz="1400" dirty="0">
                <a:solidFill>
                  <a:srgbClr val="333333"/>
                </a:solidFill>
                <a:latin typeface="Arial"/>
              </a:rPr>
              <a:t> y </a:t>
            </a:r>
            <a:r>
              <a:rPr lang="es-ES" sz="1400" b="1" dirty="0">
                <a:solidFill>
                  <a:srgbClr val="333333"/>
                </a:solidFill>
                <a:latin typeface="Arial"/>
              </a:rPr>
              <a:t>SEAT Martorell (4)</a:t>
            </a:r>
            <a:r>
              <a:rPr lang="es-ES" sz="14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marL="228600" indent="-228600">
              <a:spcAft>
                <a:spcPts val="500"/>
              </a:spcAft>
              <a:buFont typeface="Arial"/>
              <a:buChar char="●"/>
            </a:pPr>
            <a:r>
              <a:rPr lang="es-ES" sz="1400" dirty="0">
                <a:solidFill>
                  <a:srgbClr val="D04040"/>
                </a:solidFill>
                <a:latin typeface="Arial"/>
              </a:rPr>
              <a:t>⚠ Alerta:</a:t>
            </a:r>
            <a:r>
              <a:rPr lang="es-ES" sz="1400" dirty="0">
                <a:solidFill>
                  <a:srgbClr val="333333"/>
                </a:solidFill>
                <a:latin typeface="Arial"/>
              </a:rPr>
              <a:t> SEAT Martorell con tendencia negativa: 3 urgencias sin resolver en primera visita.</a:t>
            </a:r>
          </a:p>
          <a:p>
            <a:pPr marL="228600" indent="-228600">
              <a:spcAft>
                <a:spcPts val="500"/>
              </a:spcAft>
              <a:buFont typeface="Arial"/>
              <a:buChar char="●"/>
            </a:pPr>
            <a:r>
              <a:rPr lang="es-ES" sz="1400" dirty="0">
                <a:solidFill>
                  <a:srgbClr val="333333"/>
                </a:solidFill>
                <a:latin typeface="Arial"/>
              </a:rPr>
              <a:t>Técnico más activo: </a:t>
            </a:r>
            <a:r>
              <a:rPr lang="es-ES" sz="1400" b="1" dirty="0">
                <a:solidFill>
                  <a:srgbClr val="7AB800"/>
                </a:solidFill>
                <a:latin typeface="Arial"/>
              </a:rPr>
              <a:t>J. Sánchez (34 OT)</a:t>
            </a:r>
            <a:r>
              <a:rPr lang="es-ES" sz="1400" dirty="0">
                <a:solidFill>
                  <a:srgbClr val="333333"/>
                </a:solidFill>
                <a:latin typeface="Arial"/>
              </a:rPr>
              <a:t>.</a:t>
            </a:r>
          </a:p>
          <a:p>
            <a:pPr marL="228600" indent="-228600">
              <a:spcAft>
                <a:spcPts val="500"/>
              </a:spcAft>
              <a:buFont typeface="Arial"/>
              <a:buChar char="●"/>
            </a:pPr>
            <a:r>
              <a:rPr lang="es-ES" sz="1400" dirty="0">
                <a:solidFill>
                  <a:srgbClr val="333333"/>
                </a:solidFill>
                <a:latin typeface="Arial"/>
              </a:rPr>
              <a:t>Acción prioritaria: reasignar técnico en SEAT Martorell y reforzar stock de repuestos.</a:t>
            </a:r>
          </a:p>
        </p:txBody>
      </p:sp>
    </p:spTree>
    <p:extLst>
      <p:ext uri="{BB962C8B-B14F-4D97-AF65-F5344CB8AC3E}">
        <p14:creationId xmlns:p14="http://schemas.microsoft.com/office/powerpoint/2010/main" val="636560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48640" y="4663440"/>
            <a:ext cx="8595360" cy="4572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Users/ironmac/Dev-local/formacion-gesinstal/docs/logo_gein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Geinstal · Mantenimiento Integral e Instalaciones Electromecánicas</a:t>
            </a:r>
            <a:endParaRPr lang="en-US" sz="900" dirty="0"/>
          </a:p>
        </p:txBody>
      </p:sp>
      <p:sp>
        <p:nvSpPr>
          <p:cNvPr id="20" name="DK Title"/>
          <p:cNvSpPr/>
          <p:nvPr/>
        </p:nvSpPr>
        <p:spPr>
          <a:xfrm>
            <a:off x="1739900" y="3683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s-ES" sz="2400" b="1" dirty="0">
                <a:solidFill>
                  <a:srgbClr val="333333"/>
                </a:solidFill>
                <a:latin typeface="Arial"/>
              </a:rPr>
              <a:t>Datos Clave del Mes</a:t>
            </a:r>
          </a:p>
        </p:txBody>
      </p:sp>
      <p:sp>
        <p:nvSpPr>
          <p:cNvPr id="21" name="DK Subtitle"/>
          <p:cNvSpPr/>
          <p:nvPr/>
        </p:nvSpPr>
        <p:spPr>
          <a:xfrm>
            <a:off x="1739900" y="825500"/>
            <a:ext cx="6400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s-ES" sz="1400" dirty="0">
                <a:solidFill>
                  <a:srgbClr val="7AB800"/>
                </a:solidFill>
                <a:latin typeface="Arial"/>
              </a:rPr>
              <a:t>Marzo 2026 · Indicadores principales</a:t>
            </a:r>
          </a:p>
        </p:txBody>
      </p:sp>
      <p:sp>
        <p:nvSpPr>
          <p:cNvPr id="22" name="DK Divider"/>
          <p:cNvSpPr/>
          <p:nvPr/>
        </p:nvSpPr>
        <p:spPr>
          <a:xfrm>
            <a:off x="1739900" y="1168400"/>
            <a:ext cx="6400800" cy="25400"/>
          </a:xfrm>
          <a:prstGeom prst="rect">
            <a:avLst/>
          </a:prstGeom>
          <a:solidFill>
            <a:srgbClr val="7AB8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" name="KPI Card 0"/>
          <p:cNvSpPr/>
          <p:nvPr/>
        </p:nvSpPr>
        <p:spPr>
          <a:xfrm>
            <a:off x="825500" y="1295400"/>
            <a:ext cx="1651000" cy="889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txBody>
          <a:bodyPr wrap="square" lIns="45720" tIns="36576" rIns="45720" bIns="36576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666666"/>
                </a:solidFill>
                <a:latin typeface="Arial"/>
              </a:rPr>
              <a:t>Intervenciones</a:t>
            </a:r>
          </a:p>
          <a:p>
            <a:pPr marL="0" indent="0" algn="ctr">
              <a:buNone/>
            </a:pPr>
            <a:r>
              <a:rPr lang="es-ES" sz="2400" b="1" dirty="0">
                <a:solidFill>
                  <a:srgbClr val="7AB800"/>
                </a:solidFill>
                <a:latin typeface="Arial"/>
              </a:rPr>
              <a:t>47</a:t>
            </a:r>
          </a:p>
          <a:p>
            <a:pPr marL="0" indent="0" algn="ctr">
              <a:buNone/>
            </a:pPr>
            <a:r>
              <a:rPr lang="es-ES" sz="900" dirty="0">
                <a:solidFill>
                  <a:srgbClr val="999999"/>
                </a:solidFill>
                <a:latin typeface="Arial"/>
              </a:rPr>
              <a:t>32 prev. / 15 corr.</a:t>
            </a:r>
          </a:p>
        </p:txBody>
      </p:sp>
      <p:sp>
        <p:nvSpPr>
          <p:cNvPr id="31" name="KPI Card 1"/>
          <p:cNvSpPr/>
          <p:nvPr/>
        </p:nvSpPr>
        <p:spPr>
          <a:xfrm>
            <a:off x="2628900" y="1295400"/>
            <a:ext cx="1651000" cy="889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txBody>
          <a:bodyPr wrap="square" lIns="45720" tIns="36576" rIns="45720" bIns="36576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666666"/>
                </a:solidFill>
                <a:latin typeface="Arial"/>
              </a:rPr>
              <a:t>Respuesta Urg.</a:t>
            </a:r>
          </a:p>
          <a:p>
            <a:pPr marL="0" indent="0" algn="ctr">
              <a:buNone/>
            </a:pPr>
            <a:r>
              <a:rPr lang="es-ES" sz="2400" b="1" dirty="0">
                <a:solidFill>
                  <a:srgbClr val="7AB800"/>
                </a:solidFill>
                <a:latin typeface="Arial"/>
              </a:rPr>
              <a:t>2,8h</a:t>
            </a:r>
          </a:p>
          <a:p>
            <a:pPr marL="0" indent="0" algn="ctr">
              <a:buNone/>
            </a:pPr>
            <a:r>
              <a:rPr lang="es-ES" sz="900" dirty="0">
                <a:solidFill>
                  <a:srgbClr val="999999"/>
                </a:solidFill>
                <a:latin typeface="Arial"/>
              </a:rPr>
              <a:t>Tiempo medio</a:t>
            </a:r>
          </a:p>
        </p:txBody>
      </p:sp>
      <p:sp>
        <p:nvSpPr>
          <p:cNvPr id="32" name="KPI Card 2"/>
          <p:cNvSpPr/>
          <p:nvPr/>
        </p:nvSpPr>
        <p:spPr>
          <a:xfrm>
            <a:off x="4432300" y="1295400"/>
            <a:ext cx="1651000" cy="889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txBody>
          <a:bodyPr wrap="square" lIns="45720" tIns="36576" rIns="45720" bIns="36576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666666"/>
                </a:solidFill>
                <a:latin typeface="Arial"/>
              </a:rPr>
              <a:t>Resol. 1.ª visita</a:t>
            </a:r>
          </a:p>
          <a:p>
            <a:pPr marL="0" indent="0" algn="ctr">
              <a:buNone/>
            </a:pPr>
            <a:r>
              <a:rPr lang="es-ES" sz="2400" b="1" dirty="0">
                <a:solidFill>
                  <a:srgbClr val="7AB800"/>
                </a:solidFill>
                <a:latin typeface="Arial"/>
              </a:rPr>
              <a:t>78%</a:t>
            </a:r>
          </a:p>
          <a:p>
            <a:pPr marL="0" indent="0" algn="ctr">
              <a:buNone/>
            </a:pPr>
            <a:r>
              <a:rPr lang="es-ES" sz="900" dirty="0">
                <a:solidFill>
                  <a:srgbClr val="999999"/>
                </a:solidFill>
                <a:latin typeface="Arial"/>
              </a:rPr>
              <a:t>Tasa global</a:t>
            </a:r>
          </a:p>
        </p:txBody>
      </p:sp>
      <p:sp>
        <p:nvSpPr>
          <p:cNvPr id="33" name="KPI Card 3"/>
          <p:cNvSpPr/>
          <p:nvPr/>
        </p:nvSpPr>
        <p:spPr>
          <a:xfrm>
            <a:off x="6235700" y="1295400"/>
            <a:ext cx="1651000" cy="889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txBody>
          <a:bodyPr wrap="square" lIns="45720" tIns="36576" rIns="45720" bIns="36576" anchor="ctr"/>
          <a:lstStyle/>
          <a:p>
            <a:pPr marL="0" indent="0" algn="ctr">
              <a:buNone/>
            </a:pPr>
            <a:r>
              <a:rPr lang="es-ES" sz="1000" dirty="0">
                <a:solidFill>
                  <a:srgbClr val="666666"/>
                </a:solidFill>
                <a:latin typeface="Arial"/>
              </a:rPr>
              <a:t>Técnico TOP</a:t>
            </a:r>
          </a:p>
          <a:p>
            <a:pPr marL="0" indent="0" algn="ctr">
              <a:buNone/>
            </a:pPr>
            <a:r>
              <a:rPr lang="es-ES" sz="2400" b="1" dirty="0">
                <a:solidFill>
                  <a:srgbClr val="7AB800"/>
                </a:solidFill>
                <a:latin typeface="Arial"/>
              </a:rPr>
              <a:t>34 OT</a:t>
            </a:r>
          </a:p>
          <a:p>
            <a:pPr marL="0" indent="0" algn="ctr">
              <a:buNone/>
            </a:pPr>
            <a:r>
              <a:rPr lang="es-ES" sz="900" dirty="0">
                <a:solidFill>
                  <a:srgbClr val="999999"/>
                </a:solidFill>
                <a:latin typeface="Arial"/>
              </a:rPr>
              <a:t>J. Sánchez</a:t>
            </a:r>
          </a:p>
        </p:txBody>
      </p:sp>
      <p:sp>
        <p:nvSpPr>
          <p:cNvPr id="40" name="Breakdown Label"/>
          <p:cNvSpPr/>
          <p:nvPr/>
        </p:nvSpPr>
        <p:spPr>
          <a:xfrm>
            <a:off x="825500" y="2349500"/>
            <a:ext cx="342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s-ES" sz="1400" b="1" dirty="0">
                <a:solidFill>
                  <a:srgbClr val="333333"/>
                </a:solidFill>
                <a:latin typeface="Arial"/>
              </a:rPr>
              <a:t>Desglose de intervenciones</a:t>
            </a:r>
          </a:p>
        </p:txBody>
      </p:sp>
      <p:sp>
        <p:nvSpPr>
          <p:cNvPr id="41" name="Prev Bar"/>
          <p:cNvSpPr/>
          <p:nvPr/>
        </p:nvSpPr>
        <p:spPr>
          <a:xfrm>
            <a:off x="825500" y="2730500"/>
            <a:ext cx="2222500" cy="381000"/>
          </a:xfrm>
          <a:prstGeom prst="roundRect">
            <a:avLst>
              <a:gd name="adj" fmla="val 16000"/>
            </a:avLst>
          </a:prstGeom>
          <a:solidFill>
            <a:srgbClr val="7AB800"/>
          </a:solidFill>
          <a:ln>
            <a:noFill/>
          </a:ln>
        </p:spPr>
        <p:txBody>
          <a:bodyPr wrap="square" lIns="45720" tIns="0" rIns="45720" bIns="0" anchor="ctr"/>
          <a:lstStyle/>
          <a:p>
            <a:pPr marL="0" indent="0" algn="ctr">
              <a:buNone/>
            </a:pPr>
            <a:r>
              <a:rPr lang="es-ES" sz="1400" b="1" dirty="0">
                <a:solidFill>
                  <a:srgbClr val="1A3A00"/>
                </a:solidFill>
                <a:latin typeface="Arial"/>
              </a:rPr>
              <a:t>Preventivas: 32 (68%)</a:t>
            </a:r>
          </a:p>
        </p:txBody>
      </p:sp>
      <p:sp>
        <p:nvSpPr>
          <p:cNvPr id="42" name="Corr Bar"/>
          <p:cNvSpPr/>
          <p:nvPr/>
        </p:nvSpPr>
        <p:spPr>
          <a:xfrm>
            <a:off x="825500" y="3200400"/>
            <a:ext cx="2159000" cy="381000"/>
          </a:xfrm>
          <a:prstGeom prst="roundRect">
            <a:avLst>
              <a:gd name="adj" fmla="val 16000"/>
            </a:avLst>
          </a:prstGeom>
          <a:solidFill>
            <a:srgbClr val="E8A735"/>
          </a:solidFill>
          <a:ln>
            <a:noFill/>
          </a:ln>
        </p:spPr>
        <p:txBody>
          <a:bodyPr wrap="square" lIns="45720" tIns="0" rIns="45720" bIns="0" anchor="ctr"/>
          <a:lstStyle/>
          <a:p>
            <a:pPr marL="0" indent="0" algn="ctr">
              <a:buNone/>
            </a:pPr>
            <a:r>
              <a:rPr lang="es-ES" sz="1400" b="1" dirty="0">
                <a:solidFill>
                  <a:srgbClr val="5A3A00"/>
                </a:solidFill>
                <a:latin typeface="Arial"/>
              </a:rPr>
              <a:t>Correctivas: 15 (32%)</a:t>
            </a:r>
          </a:p>
        </p:txBody>
      </p:sp>
      <p:sp>
        <p:nvSpPr>
          <p:cNvPr id="43" name="Client Label"/>
          <p:cNvSpPr/>
          <p:nvPr/>
        </p:nvSpPr>
        <p:spPr>
          <a:xfrm>
            <a:off x="4572000" y="23495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s-ES" sz="1400" b="1" dirty="0">
                <a:solidFill>
                  <a:srgbClr val="333333"/>
                </a:solidFill>
                <a:latin typeface="Arial"/>
              </a:rPr>
              <a:t>Incidencias por cliente</a:t>
            </a:r>
          </a:p>
        </p:txBody>
      </p:sp>
      <p:sp>
        <p:nvSpPr>
          <p:cNvPr id="50" name="CL 0"/>
          <p:cNvSpPr/>
          <p:nvPr/>
        </p:nvSpPr>
        <p:spPr>
          <a:xfrm>
            <a:off x="4572000" y="27305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s-ES" sz="1400" dirty="0">
                <a:solidFill>
                  <a:srgbClr val="333333"/>
                </a:solidFill>
                <a:latin typeface="Arial"/>
              </a:rPr>
              <a:t>Vall d'Hebron</a:t>
            </a:r>
            <a:r>
              <a:rPr lang="es-ES" sz="1400" b="1" dirty="0">
                <a:solidFill>
                  <a:srgbClr val="7AB800"/>
                </a:solidFill>
                <a:latin typeface="Arial"/>
              </a:rPr>
              <a:t>  8</a:t>
            </a:r>
          </a:p>
        </p:txBody>
      </p:sp>
      <p:sp>
        <p:nvSpPr>
          <p:cNvPr id="51" name="CL 1"/>
          <p:cNvSpPr/>
          <p:nvPr/>
        </p:nvSpPr>
        <p:spPr>
          <a:xfrm>
            <a:off x="4572000" y="31115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s-ES" sz="1400" dirty="0">
                <a:solidFill>
                  <a:srgbClr val="333333"/>
                </a:solidFill>
                <a:latin typeface="Arial"/>
              </a:rPr>
              <a:t>SEAT Martorell</a:t>
            </a:r>
            <a:r>
              <a:rPr lang="es-ES" sz="1400" b="1" dirty="0">
                <a:solidFill>
                  <a:srgbClr val="D04040"/>
                </a:solidFill>
                <a:latin typeface="Arial"/>
              </a:rPr>
              <a:t>  4</a:t>
            </a:r>
          </a:p>
        </p:txBody>
      </p:sp>
      <p:sp>
        <p:nvSpPr>
          <p:cNvPr id="52" name="CL 2"/>
          <p:cNvSpPr/>
          <p:nvPr/>
        </p:nvSpPr>
        <p:spPr>
          <a:xfrm>
            <a:off x="4572000" y="3492500"/>
            <a:ext cx="355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s-ES" sz="1400" dirty="0">
                <a:solidFill>
                  <a:srgbClr val="999999"/>
                </a:solidFill>
                <a:latin typeface="Arial"/>
              </a:rPr>
              <a:t>Otros clientes</a:t>
            </a:r>
            <a:r>
              <a:rPr lang="es-ES" sz="1400" b="1" dirty="0">
                <a:solidFill>
                  <a:srgbClr val="7AB800"/>
                </a:solidFill>
                <a:latin typeface="Arial"/>
              </a:rPr>
              <a:t>  35</a:t>
            </a:r>
          </a:p>
        </p:txBody>
      </p:sp>
      <p:sp>
        <p:nvSpPr>
          <p:cNvPr id="60" name="Summary"/>
          <p:cNvSpPr/>
          <p:nvPr/>
        </p:nvSpPr>
        <p:spPr>
          <a:xfrm>
            <a:off x="825500" y="3937000"/>
            <a:ext cx="7302500" cy="571500"/>
          </a:xfrm>
          <a:prstGeom prst="roundRect">
            <a:avLst>
              <a:gd name="adj" fmla="val 8000"/>
            </a:avLst>
          </a:prstGeom>
          <a:solidFill>
            <a:srgbClr val="F0F8E6"/>
          </a:solidFill>
          <a:ln w="12700">
            <a:solidFill>
              <a:srgbClr val="7AB800"/>
            </a:solidFill>
          </a:ln>
        </p:spPr>
        <p:txBody>
          <a:bodyPr wrap="square" lIns="91440" tIns="36576" rIns="91440" bIns="36576" anchor="ctr"/>
          <a:lstStyle/>
          <a:p>
            <a:pPr marL="0" indent="0" algn="ctr">
              <a:buNone/>
            </a:pPr>
            <a:r>
              <a:rPr lang="es-ES" sz="1400" dirty="0">
                <a:solidFill>
                  <a:srgbClr val="333333"/>
                </a:solidFill>
                <a:latin typeface="Arial"/>
              </a:rPr>
              <a:t>Ratio preventivo/correctivo: </a:t>
            </a:r>
            <a:r>
              <a:rPr lang="es-ES" sz="1400" b="1" dirty="0">
                <a:solidFill>
                  <a:srgbClr val="7AB800"/>
                </a:solidFill>
                <a:latin typeface="Arial"/>
              </a:rPr>
              <a:t>68/32</a:t>
            </a:r>
            <a:r>
              <a:rPr lang="es-ES" sz="1400" dirty="0">
                <a:solidFill>
                  <a:srgbClr val="333333"/>
                </a:solidFill>
                <a:latin typeface="Arial"/>
              </a:rPr>
              <a:t>  |  Objetivo anual: 75/25  |  Tendencia: </a:t>
            </a:r>
            <a:r>
              <a:rPr lang="es-ES" sz="1400" b="1" dirty="0">
                <a:solidFill>
                  <a:srgbClr val="7AB800"/>
                </a:solidFill>
                <a:latin typeface="Arial"/>
              </a:rPr>
              <a:t>↑ Positiva</a:t>
            </a:r>
          </a:p>
        </p:txBody>
      </p:sp>
    </p:spTree>
    <p:extLst>
      <p:ext uri="{BB962C8B-B14F-4D97-AF65-F5344CB8AC3E}">
        <p14:creationId xmlns:p14="http://schemas.microsoft.com/office/powerpoint/2010/main" val="2183056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48640" y="4663440"/>
            <a:ext cx="8595360" cy="4572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Users/ironmac/Dev-local/formacion-gesinstal/docs/logo_gein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Geinstal · Mantenimiento Integral e Instalaciones Electromecánicas</a:t>
            </a:r>
            <a:endParaRPr lang="en-US" sz="900" dirty="0"/>
          </a:p>
        </p:txBody>
      </p:sp>
      <p:sp>
        <p:nvSpPr>
          <p:cNvPr id="10" name="AC Title"/>
          <p:cNvSpPr/>
          <p:nvPr/>
        </p:nvSpPr>
        <p:spPr>
          <a:xfrm>
            <a:off x="1739900" y="368300"/>
            <a:ext cx="6400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s-ES" sz="2400" b="1" dirty="0">
                <a:solidFill>
                  <a:srgbClr val="333333"/>
                </a:solidFill>
                <a:latin typeface="Arial"/>
              </a:rPr>
              <a:t>Análisis por Cliente</a:t>
            </a:r>
          </a:p>
        </p:txBody>
      </p:sp>
      <p:sp>
        <p:nvSpPr>
          <p:cNvPr id="11" name="AC Subtitle"/>
          <p:cNvSpPr/>
          <p:nvPr/>
        </p:nvSpPr>
        <p:spPr>
          <a:xfrm>
            <a:off x="1739900" y="774700"/>
            <a:ext cx="640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s-ES" sz="1400" dirty="0">
                <a:solidFill>
                  <a:srgbClr val="7AB800"/>
                </a:solidFill>
                <a:latin typeface="Arial"/>
              </a:rPr>
              <a:t>Clientes con mayor volumen de incidencias</a:t>
            </a:r>
          </a:p>
        </p:txBody>
      </p:sp>
      <p:sp>
        <p:nvSpPr>
          <p:cNvPr id="12" name="AC Divider"/>
          <p:cNvSpPr/>
          <p:nvPr/>
        </p:nvSpPr>
        <p:spPr>
          <a:xfrm>
            <a:off x="1739900" y="1092200"/>
            <a:ext cx="6400800" cy="25400"/>
          </a:xfrm>
          <a:prstGeom prst="rect">
            <a:avLst/>
          </a:prstGeom>
          <a:solidFill>
            <a:srgbClr val="7AB8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VH Card"/>
          <p:cNvSpPr/>
          <p:nvPr/>
        </p:nvSpPr>
        <p:spPr>
          <a:xfrm>
            <a:off x="774700" y="1219200"/>
            <a:ext cx="3556000" cy="16510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7AB800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s-ES" sz="1600" b="1" dirty="0">
                <a:solidFill>
                  <a:srgbClr val="333333"/>
                </a:solidFill>
                <a:latin typeface="Arial"/>
              </a:rPr>
              <a:t>Vall d'Hebron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2800" b="1" dirty="0">
                <a:solidFill>
                  <a:srgbClr val="7AB800"/>
                </a:solidFill>
                <a:latin typeface="Arial"/>
              </a:rPr>
              <a:t>8 incidencias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s-ES" sz="1400" dirty="0">
                <a:solidFill>
                  <a:srgbClr val="666666"/>
                </a:solidFill>
                <a:latin typeface="Arial"/>
              </a:rPr>
              <a:t>Mayor volumen del mes. Tendencia estable. Sin alertas especiales.</a:t>
            </a:r>
          </a:p>
        </p:txBody>
      </p:sp>
      <p:sp>
        <p:nvSpPr>
          <p:cNvPr id="21" name="SEAT Card"/>
          <p:cNvSpPr/>
          <p:nvPr/>
        </p:nvSpPr>
        <p:spPr>
          <a:xfrm>
            <a:off x="4584700" y="1219200"/>
            <a:ext cx="3556000" cy="165100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 w="12700">
            <a:solidFill>
              <a:srgbClr val="D04040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s-ES" sz="1600" b="1" dirty="0">
                <a:solidFill>
                  <a:srgbClr val="333333"/>
                </a:solidFill>
                <a:latin typeface="Arial"/>
              </a:rPr>
              <a:t>SEAT Martorell</a:t>
            </a:r>
            <a:r>
              <a:rPr lang="es-ES" sz="1400" dirty="0">
                <a:solidFill>
                  <a:srgbClr val="D04040"/>
                </a:solidFill>
                <a:latin typeface="Arial"/>
              </a:rPr>
              <a:t>  ⚠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2800" b="1" dirty="0">
                <a:solidFill>
                  <a:srgbClr val="D04040"/>
                </a:solidFill>
                <a:latin typeface="Arial"/>
              </a:rPr>
              <a:t>4 incidencias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s-ES" sz="1400" dirty="0">
                <a:solidFill>
                  <a:srgbClr val="D04040"/>
                </a:solidFill>
                <a:latin typeface="Arial"/>
              </a:rPr>
              <a:t>Tendencia negativa. 3 urgencias sin resolver en primera visita.</a:t>
            </a:r>
          </a:p>
        </p:txBody>
      </p:sp>
      <p:sp>
        <p:nvSpPr>
          <p:cNvPr id="30" name="Detail"/>
          <p:cNvSpPr/>
          <p:nvPr/>
        </p:nvSpPr>
        <p:spPr>
          <a:xfrm>
            <a:off x="774700" y="3048000"/>
            <a:ext cx="7366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s-ES" sz="1600" b="1" dirty="0">
                <a:solidFill>
                  <a:srgbClr val="333333"/>
                </a:solidFill>
                <a:latin typeface="Arial"/>
              </a:rPr>
              <a:t>Detalle SEAT Martorell</a:t>
            </a:r>
          </a:p>
          <a:p>
            <a:pPr marL="228600" indent="-228600">
              <a:spcBef>
                <a:spcPts val="300"/>
              </a:spcBef>
              <a:spcAft>
                <a:spcPts val="200"/>
              </a:spcAft>
              <a:buFont typeface="Arial"/>
              <a:buChar char="–"/>
            </a:pPr>
            <a:r>
              <a:rPr lang="es-ES" sz="1400" dirty="0">
                <a:solidFill>
                  <a:srgbClr val="333333"/>
                </a:solidFill>
                <a:latin typeface="Arial"/>
              </a:rPr>
              <a:t>3 de las 4 intervenciones fueron urgencias no resueltas en primera visita.</a:t>
            </a:r>
          </a:p>
          <a:p>
            <a:pPr marL="228600" indent="-228600">
              <a:spcAft>
                <a:spcPts val="200"/>
              </a:spcAft>
              <a:buFont typeface="Arial"/>
              <a:buChar char="–"/>
            </a:pPr>
            <a:r>
              <a:rPr lang="es-ES" sz="1400" dirty="0">
                <a:solidFill>
                  <a:srgbClr val="333333"/>
                </a:solidFill>
                <a:latin typeface="Arial"/>
              </a:rPr>
              <a:t>Causa probable: falta de repuestos específicos y asignación de técnico con baja tasa de resolución.</a:t>
            </a:r>
          </a:p>
          <a:p>
            <a:pPr marL="228600" indent="-228600">
              <a:spcAft>
                <a:spcPts val="200"/>
              </a:spcAft>
              <a:buFont typeface="Arial"/>
              <a:buChar char="–"/>
            </a:pPr>
            <a:r>
              <a:rPr lang="es-ES" sz="1400" b="1" dirty="0">
                <a:solidFill>
                  <a:srgbClr val="D04040"/>
                </a:solidFill>
                <a:latin typeface="Arial"/>
              </a:rPr>
              <a:t>Acción requerida:</a:t>
            </a:r>
            <a:r>
              <a:rPr lang="es-ES" sz="1400" dirty="0">
                <a:solidFill>
                  <a:srgbClr val="333333"/>
                </a:solidFill>
                <a:latin typeface="Arial"/>
              </a:rPr>
              <a:t> reasignar técnico y reforzar stock de repuestos para sus equipos.</a:t>
            </a:r>
          </a:p>
        </p:txBody>
      </p:sp>
    </p:spTree>
    <p:extLst>
      <p:ext uri="{BB962C8B-B14F-4D97-AF65-F5344CB8AC3E}">
        <p14:creationId xmlns:p14="http://schemas.microsoft.com/office/powerpoint/2010/main" val="3287893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48640" y="4663440"/>
            <a:ext cx="8595360" cy="4572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Users/ironmac/Dev-local/formacion-gesinstal/docs/logo_gein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Geinstal · Mantenimiento Integral e Instalaciones Electromecánicas</a:t>
            </a:r>
            <a:endParaRPr lang="en-US" sz="900" dirty="0"/>
          </a:p>
        </p:txBody>
      </p:sp>
      <p:sp>
        <p:nvSpPr>
          <p:cNvPr id="10" name="RE Title"/>
          <p:cNvSpPr/>
          <p:nvPr/>
        </p:nvSpPr>
        <p:spPr>
          <a:xfrm>
            <a:off x="1739900" y="368300"/>
            <a:ext cx="6400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s-ES" sz="2400" b="1" dirty="0">
                <a:solidFill>
                  <a:srgbClr val="333333"/>
                </a:solidFill>
                <a:latin typeface="Arial"/>
              </a:rPr>
              <a:t>Rendimiento del Equipo</a:t>
            </a:r>
          </a:p>
        </p:txBody>
      </p:sp>
      <p:sp>
        <p:nvSpPr>
          <p:cNvPr id="11" name="RE Sub"/>
          <p:cNvSpPr/>
          <p:nvPr/>
        </p:nvSpPr>
        <p:spPr>
          <a:xfrm>
            <a:off x="1739900" y="774700"/>
            <a:ext cx="640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s-ES" sz="1400" dirty="0">
                <a:solidFill>
                  <a:srgbClr val="7AB800"/>
                </a:solidFill>
                <a:latin typeface="Arial"/>
              </a:rPr>
              <a:t>Desempeño de técnicos · Marzo 2026</a:t>
            </a:r>
          </a:p>
        </p:txBody>
      </p:sp>
      <p:sp>
        <p:nvSpPr>
          <p:cNvPr id="12" name="RE Div"/>
          <p:cNvSpPr/>
          <p:nvPr/>
        </p:nvSpPr>
        <p:spPr>
          <a:xfrm>
            <a:off x="1739900" y="1092200"/>
            <a:ext cx="6400800" cy="25400"/>
          </a:xfrm>
          <a:prstGeom prst="rect">
            <a:avLst/>
          </a:prstGeom>
          <a:solidFill>
            <a:srgbClr val="7AB8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Sanchez Card"/>
          <p:cNvSpPr/>
          <p:nvPr/>
        </p:nvSpPr>
        <p:spPr>
          <a:xfrm>
            <a:off x="774700" y="1219200"/>
            <a:ext cx="3556000" cy="1460500"/>
          </a:xfrm>
          <a:prstGeom prst="roundRect">
            <a:avLst>
              <a:gd name="adj" fmla="val 5000"/>
            </a:avLst>
          </a:prstGeom>
          <a:solidFill>
            <a:srgbClr val="F0F8E6"/>
          </a:solidFill>
          <a:ln w="12700">
            <a:solidFill>
              <a:srgbClr val="7AB800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s-ES" sz="1400" dirty="0">
                <a:solidFill>
                  <a:srgbClr val="7AB800"/>
                </a:solidFill>
                <a:latin typeface="Arial"/>
              </a:rPr>
              <a:t>★ Técnico más activo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2000" b="1" dirty="0">
                <a:solidFill>
                  <a:srgbClr val="333333"/>
                </a:solidFill>
                <a:latin typeface="Arial"/>
              </a:rPr>
              <a:t>J. Sánchez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2800" b="1" dirty="0">
                <a:solidFill>
                  <a:srgbClr val="7AB800"/>
                </a:solidFill>
                <a:latin typeface="Arial"/>
              </a:rPr>
              <a:t>34 OT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s-ES" sz="1400" dirty="0">
                <a:solidFill>
                  <a:srgbClr val="666666"/>
                </a:solidFill>
                <a:latin typeface="Arial"/>
              </a:rPr>
              <a:t>72% de todas las intervenciones</a:t>
            </a:r>
          </a:p>
        </p:txBody>
      </p:sp>
      <p:sp>
        <p:nvSpPr>
          <p:cNvPr id="21" name="Rodriguez Card"/>
          <p:cNvSpPr/>
          <p:nvPr/>
        </p:nvSpPr>
        <p:spPr>
          <a:xfrm>
            <a:off x="4584700" y="1219200"/>
            <a:ext cx="3556000" cy="146050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 w="12700">
            <a:solidFill>
              <a:srgbClr val="D04040"/>
            </a:solidFill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s-ES" sz="1400" dirty="0">
                <a:solidFill>
                  <a:srgbClr val="D04040"/>
                </a:solidFill>
                <a:latin typeface="Arial"/>
              </a:rPr>
              <a:t>⚠ Menor resolución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2000" b="1" dirty="0">
                <a:solidFill>
                  <a:srgbClr val="333333"/>
                </a:solidFill>
                <a:latin typeface="Arial"/>
              </a:rPr>
              <a:t>D. Rodríguez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2800" b="1" dirty="0">
                <a:solidFill>
                  <a:srgbClr val="D04040"/>
                </a:solidFill>
                <a:latin typeface="Arial"/>
              </a:rPr>
              <a:t>50%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s-ES" sz="1400" dirty="0">
                <a:solidFill>
                  <a:srgbClr val="666666"/>
                </a:solidFill>
                <a:latin typeface="Arial"/>
              </a:rPr>
              <a:t>Tasa resolución 1.ª visita</a:t>
            </a:r>
          </a:p>
        </p:txBody>
      </p:sp>
      <p:sp>
        <p:nvSpPr>
          <p:cNvPr id="30" name="Analysis"/>
          <p:cNvSpPr/>
          <p:nvPr/>
        </p:nvSpPr>
        <p:spPr>
          <a:xfrm>
            <a:off x="774700" y="2857500"/>
            <a:ext cx="7366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buNone/>
            </a:pPr>
            <a:r>
              <a:rPr lang="es-ES" sz="1600" b="1" dirty="0">
                <a:solidFill>
                  <a:srgbClr val="333333"/>
                </a:solidFill>
                <a:latin typeface="Arial"/>
              </a:rPr>
              <a:t>Análisis de rendimiento</a:t>
            </a:r>
          </a:p>
          <a:p>
            <a:pPr marL="228600" indent="-228600">
              <a:spcBef>
                <a:spcPts val="300"/>
              </a:spcBef>
              <a:spcAft>
                <a:spcPts val="200"/>
              </a:spcAft>
              <a:buFont typeface="Arial"/>
              <a:buChar char="–"/>
            </a:pPr>
            <a:r>
              <a:rPr lang="es-ES" sz="1400" dirty="0">
                <a:solidFill>
                  <a:srgbClr val="333333"/>
                </a:solidFill>
                <a:latin typeface="Arial"/>
              </a:rPr>
              <a:t>J. Sánchez concentra el </a:t>
            </a:r>
            <a:r>
              <a:rPr lang="es-ES" sz="1400" b="1" dirty="0">
                <a:solidFill>
                  <a:srgbClr val="7AB800"/>
                </a:solidFill>
                <a:latin typeface="Arial"/>
              </a:rPr>
              <a:t>72% de las OT del mes</a:t>
            </a:r>
            <a:r>
              <a:rPr lang="es-ES" sz="1400" dirty="0">
                <a:solidFill>
                  <a:srgbClr val="333333"/>
                </a:solidFill>
                <a:latin typeface="Arial"/>
              </a:rPr>
              <a:t>. Alta carga de trabajo a monitorizar.</a:t>
            </a:r>
          </a:p>
          <a:p>
            <a:pPr marL="228600" indent="-228600">
              <a:spcAft>
                <a:spcPts val="200"/>
              </a:spcAft>
              <a:buFont typeface="Arial"/>
              <a:buChar char="–"/>
            </a:pPr>
            <a:r>
              <a:rPr lang="es-ES" sz="1400" dirty="0">
                <a:solidFill>
                  <a:srgbClr val="333333"/>
                </a:solidFill>
                <a:latin typeface="Arial"/>
              </a:rPr>
              <a:t>D. Rodríguez con tasa de resolución del </a:t>
            </a:r>
            <a:r>
              <a:rPr lang="es-ES" sz="1400" b="1" dirty="0">
                <a:solidFill>
                  <a:srgbClr val="D04040"/>
                </a:solidFill>
                <a:latin typeface="Arial"/>
              </a:rPr>
              <a:t>50%</a:t>
            </a:r>
            <a:r>
              <a:rPr lang="es-ES" sz="1400" dirty="0">
                <a:solidFill>
                  <a:srgbClr val="333333"/>
                </a:solidFill>
                <a:latin typeface="Arial"/>
              </a:rPr>
              <a:t>, muy por debajo de la media del equipo (78%).</a:t>
            </a:r>
          </a:p>
          <a:p>
            <a:pPr marL="228600" indent="-228600">
              <a:spcAft>
                <a:spcPts val="200"/>
              </a:spcAft>
              <a:buFont typeface="Arial"/>
              <a:buChar char="–"/>
            </a:pPr>
            <a:r>
              <a:rPr lang="es-ES" sz="1400" b="1" dirty="0">
                <a:solidFill>
                  <a:srgbClr val="D04040"/>
                </a:solidFill>
                <a:latin typeface="Arial"/>
              </a:rPr>
              <a:t>Recomendación:</a:t>
            </a:r>
            <a:r>
              <a:rPr lang="es-ES" sz="1400" dirty="0">
                <a:solidFill>
                  <a:srgbClr val="333333"/>
                </a:solidFill>
                <a:latin typeface="Arial"/>
              </a:rPr>
              <a:t> reasignar a D. Rodríguez de la cuenta SEAT Martorell. Evaluar formación adicional.</a:t>
            </a:r>
          </a:p>
        </p:txBody>
      </p:sp>
    </p:spTree>
    <p:extLst>
      <p:ext uri="{BB962C8B-B14F-4D97-AF65-F5344CB8AC3E}">
        <p14:creationId xmlns:p14="http://schemas.microsoft.com/office/powerpoint/2010/main" val="101002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3" name="Shape 1"/>
          <p:cNvSpPr/>
          <p:nvPr/>
        </p:nvSpPr>
        <p:spPr>
          <a:xfrm>
            <a:off x="548640" y="4663440"/>
            <a:ext cx="8595360" cy="45720"/>
          </a:xfrm>
          <a:prstGeom prst="rect">
            <a:avLst/>
          </a:prstGeom>
          <a:solidFill>
            <a:srgbClr val="7AB800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4" name="Image 0" descr="/Users/ironmac/Dev-local/formacion-gesinstal/docs/logo_gein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Geinstal · Mantenimiento Integral e Instalaciones Electromecánicas</a:t>
            </a:r>
            <a:endParaRPr lang="en-US" sz="900" dirty="0"/>
          </a:p>
        </p:txBody>
      </p:sp>
      <p:sp>
        <p:nvSpPr>
          <p:cNvPr id="10" name="AP Title"/>
          <p:cNvSpPr/>
          <p:nvPr/>
        </p:nvSpPr>
        <p:spPr>
          <a:xfrm>
            <a:off x="1739900" y="368300"/>
            <a:ext cx="6400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s-ES" sz="2400" b="1" dirty="0">
                <a:solidFill>
                  <a:srgbClr val="333333"/>
                </a:solidFill>
                <a:latin typeface="Arial"/>
              </a:rPr>
              <a:t>Acciones Pendientes</a:t>
            </a:r>
          </a:p>
        </p:txBody>
      </p:sp>
      <p:sp>
        <p:nvSpPr>
          <p:cNvPr id="11" name="AP Sub"/>
          <p:cNvSpPr/>
          <p:nvPr/>
        </p:nvSpPr>
        <p:spPr>
          <a:xfrm>
            <a:off x="1739900" y="774700"/>
            <a:ext cx="640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s-ES" sz="1400" dirty="0">
                <a:solidFill>
                  <a:srgbClr val="7AB800"/>
                </a:solidFill>
                <a:latin typeface="Arial"/>
              </a:rPr>
              <a:t>Plan de mejora y seguimiento para abril 2026</a:t>
            </a:r>
          </a:p>
        </p:txBody>
      </p:sp>
      <p:sp>
        <p:nvSpPr>
          <p:cNvPr id="12" name="AP Div"/>
          <p:cNvSpPr/>
          <p:nvPr/>
        </p:nvSpPr>
        <p:spPr>
          <a:xfrm>
            <a:off x="1739900" y="1092200"/>
            <a:ext cx="6400800" cy="25400"/>
          </a:xfrm>
          <a:prstGeom prst="rect">
            <a:avLst/>
          </a:prstGeom>
          <a:solidFill>
            <a:srgbClr val="7AB8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Action 20"/>
          <p:cNvSpPr/>
          <p:nvPr/>
        </p:nvSpPr>
        <p:spPr>
          <a:xfrm>
            <a:off x="774700" y="1219200"/>
            <a:ext cx="7366000" cy="736600"/>
          </a:xfrm>
          <a:prstGeom prst="roundRect">
            <a:avLst>
              <a:gd name="adj" fmla="val 8000"/>
            </a:avLst>
          </a:prstGeom>
          <a:solidFill>
            <a:srgbClr val="FFF5F5"/>
          </a:solidFill>
          <a:ln w="12700">
            <a:solidFill>
              <a:srgbClr val="D04040"/>
            </a:solidFill>
          </a:ln>
        </p:spPr>
        <p:txBody>
          <a:bodyPr wrap="square" lIns="91440" tIns="36576" rIns="91440" bIns="36576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D04040"/>
                </a:solidFill>
                <a:latin typeface="Arial"/>
              </a:rPr>
              <a:t>URGENTE</a:t>
            </a:r>
            <a:r>
              <a:rPr lang="es-ES" sz="1400" b="1" dirty="0">
                <a:solidFill>
                  <a:srgbClr val="333333"/>
                </a:solidFill>
                <a:latin typeface="Arial"/>
              </a:rPr>
              <a:t>  Reasignar técnico en SEAT Martorell</a:t>
            </a:r>
          </a:p>
          <a:p>
            <a:pPr marL="0" indent="0">
              <a:buNone/>
            </a:pPr>
            <a:r>
              <a:rPr lang="es-ES" sz="1400" dirty="0">
                <a:solidFill>
                  <a:srgbClr val="666666"/>
                </a:solidFill>
                <a:latin typeface="Arial"/>
              </a:rPr>
              <a:t>Sustituir a D. Rodríguez por técnico con mayor tasa de resolución. Plazo: 1.ª semana de abril.</a:t>
            </a:r>
          </a:p>
        </p:txBody>
      </p:sp>
      <p:sp>
        <p:nvSpPr>
          <p:cNvPr id="21" name="Action 21"/>
          <p:cNvSpPr/>
          <p:nvPr/>
        </p:nvSpPr>
        <p:spPr>
          <a:xfrm>
            <a:off x="774700" y="2108200"/>
            <a:ext cx="7366000" cy="73660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12700">
            <a:solidFill>
              <a:srgbClr val="E8A735"/>
            </a:solidFill>
          </a:ln>
        </p:spPr>
        <p:txBody>
          <a:bodyPr wrap="square" lIns="91440" tIns="36576" rIns="91440" bIns="36576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E8A735"/>
                </a:solidFill>
                <a:latin typeface="Arial"/>
              </a:rPr>
              <a:t>ALTA</a:t>
            </a:r>
            <a:r>
              <a:rPr lang="es-ES" sz="1400" b="1" dirty="0">
                <a:solidFill>
                  <a:srgbClr val="333333"/>
                </a:solidFill>
                <a:latin typeface="Arial"/>
              </a:rPr>
              <a:t>  Reforzar stock de repuestos para equipos SEAT</a:t>
            </a:r>
          </a:p>
          <a:p>
            <a:pPr marL="0" indent="0">
              <a:buNone/>
            </a:pPr>
            <a:r>
              <a:rPr lang="es-ES" sz="1400" dirty="0">
                <a:solidFill>
                  <a:srgbClr val="666666"/>
                </a:solidFill>
                <a:latin typeface="Arial"/>
              </a:rPr>
              <a:t>Revisar inventario, identificar piezas críticas y tramitar pedidos. Plazo: 2.ª semana de abril.</a:t>
            </a:r>
          </a:p>
        </p:txBody>
      </p:sp>
      <p:sp>
        <p:nvSpPr>
          <p:cNvPr id="22" name="Action 22"/>
          <p:cNvSpPr/>
          <p:nvPr/>
        </p:nvSpPr>
        <p:spPr>
          <a:xfrm>
            <a:off x="774700" y="2997200"/>
            <a:ext cx="7366000" cy="736600"/>
          </a:xfrm>
          <a:prstGeom prst="roundRect">
            <a:avLst>
              <a:gd name="adj" fmla="val 8000"/>
            </a:avLst>
          </a:prstGeom>
          <a:solidFill>
            <a:srgbClr val="F0F8E6"/>
          </a:solidFill>
          <a:ln w="12700">
            <a:solidFill>
              <a:srgbClr val="7AB800"/>
            </a:solidFill>
          </a:ln>
        </p:spPr>
        <p:txBody>
          <a:bodyPr wrap="square" lIns="91440" tIns="36576" rIns="91440" bIns="36576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7AB800"/>
                </a:solidFill>
                <a:latin typeface="Arial"/>
              </a:rPr>
              <a:t>MEDIA</a:t>
            </a:r>
            <a:r>
              <a:rPr lang="es-ES" sz="1400" b="1" dirty="0">
                <a:solidFill>
                  <a:srgbClr val="333333"/>
                </a:solidFill>
                <a:latin typeface="Arial"/>
              </a:rPr>
              <a:t>  Evaluar plan de formación para D. Rodríguez</a:t>
            </a:r>
          </a:p>
          <a:p>
            <a:pPr marL="0" indent="0">
              <a:buNone/>
            </a:pPr>
            <a:r>
              <a:rPr lang="es-ES" sz="1400" dirty="0">
                <a:solidFill>
                  <a:srgbClr val="666666"/>
                </a:solidFill>
                <a:latin typeface="Arial"/>
              </a:rPr>
              <a:t>Diagnóstico de áreas de mejora y diseño de plan de acompañamiento. Plazo: abril.</a:t>
            </a:r>
          </a:p>
        </p:txBody>
      </p:sp>
      <p:sp>
        <p:nvSpPr>
          <p:cNvPr id="23" name="Action 23"/>
          <p:cNvSpPr/>
          <p:nvPr/>
        </p:nvSpPr>
        <p:spPr>
          <a:xfrm>
            <a:off x="774700" y="3810000"/>
            <a:ext cx="7366000" cy="736600"/>
          </a:xfrm>
          <a:prstGeom prst="roundRect">
            <a:avLst>
              <a:gd name="adj" fmla="val 8000"/>
            </a:avLst>
          </a:prstGeom>
          <a:solidFill>
            <a:srgbClr val="F0F8E6"/>
          </a:solidFill>
          <a:ln w="12700">
            <a:solidFill>
              <a:srgbClr val="7AB800"/>
            </a:solidFill>
          </a:ln>
        </p:spPr>
        <p:txBody>
          <a:bodyPr wrap="square" lIns="91440" tIns="36576" rIns="91440" bIns="36576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7AB800"/>
                </a:solidFill>
                <a:latin typeface="Arial"/>
              </a:rPr>
              <a:t>MEDIA</a:t>
            </a:r>
            <a:r>
              <a:rPr lang="es-ES" sz="1400" b="1" dirty="0">
                <a:solidFill>
                  <a:srgbClr val="333333"/>
                </a:solidFill>
                <a:latin typeface="Arial"/>
              </a:rPr>
              <a:t>  Monitorizar carga de trabajo de J. Sánchez</a:t>
            </a:r>
          </a:p>
          <a:p>
            <a:pPr marL="0" indent="0">
              <a:buNone/>
            </a:pPr>
            <a:r>
              <a:rPr lang="es-ES" sz="1400" dirty="0">
                <a:solidFill>
                  <a:srgbClr val="666666"/>
                </a:solidFill>
                <a:latin typeface="Arial"/>
              </a:rPr>
              <a:t>Redistribuir OT si la carga supera el 70% del total en abril.</a:t>
            </a:r>
          </a:p>
        </p:txBody>
      </p:sp>
    </p:spTree>
    <p:extLst>
      <p:ext uri="{BB962C8B-B14F-4D97-AF65-F5344CB8AC3E}">
        <p14:creationId xmlns:p14="http://schemas.microsoft.com/office/powerpoint/2010/main" val="937131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3E41658-33C7-5B43-BCBA-D0D07BBF07F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552b229-5c9b-4f63-8934-7f9c3db873d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540</Words>
  <Application>Microsoft Macintosh PowerPoint</Application>
  <PresentationFormat>Presentación en pantalla (16:9)</PresentationFormat>
  <Paragraphs>82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Geinstal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Informe Mensual — Mantenimiento</dc:title>
  <dc:subject>PptxGenJS Presentation</dc:subject>
  <dc:creator>Geinstal</dc:creator>
  <cp:lastModifiedBy>Daniel Sevilla Guerra</cp:lastModifiedBy>
  <cp:revision>2</cp:revision>
  <dcterms:created xsi:type="dcterms:W3CDTF">2026-04-16T17:57:01Z</dcterms:created>
  <dcterms:modified xsi:type="dcterms:W3CDTF">2026-04-16T18:24:18Z</dcterms:modified>
</cp:coreProperties>
</file>