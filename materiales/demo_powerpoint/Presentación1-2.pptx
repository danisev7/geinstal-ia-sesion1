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88"/>
    <p:restoredTop sz="94658"/>
  </p:normalViewPr>
  <p:slideViewPr>
    <p:cSldViewPr snapToGrid="0">
      <p:cViewPr varScale="1">
        <p:scale>
          <a:sx n="85" d="100"/>
          <a:sy n="85" d="100"/>
        </p:scale>
        <p:origin x="18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3E14A-D6EA-BE25-8DC8-CD21CB5D1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6996CD-5E03-4BC7-B76E-DAF4F5330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2465C-239C-C53B-28F4-545C94BB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9F7A8A-CF83-B827-66D0-C25F0A83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70A26C-684A-E33E-1F58-9BDA49CB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127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EEA1E-B14D-CD05-2C48-C475BDFC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312C69-CE4C-E55D-853A-A685C967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86B891-188D-53D4-EF42-3120F96B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626E8-7B79-A6FE-54B4-BD929D4F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F3B851-020C-479B-536F-F43D9AD9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30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F3CF7-F16A-FF3D-5B7D-66935CDA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0E6DD-362E-F1E9-274E-3622881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46319-A661-5E2A-9E34-787D48D7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900237-62B0-207E-40F5-049D1BCA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A2AF35-EE6C-0E13-CECE-F7720F56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6836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967BB-0B66-0B21-8A8C-D56C3F2B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2E05F-3F40-15BF-2D71-647DFD71D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F72096-2C24-924A-51A2-17BFB8EF2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7D0A96-2737-4A1C-34A6-72316F9D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2A7E9E-FAF4-2162-BA2A-F5AE10C3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63963-74FB-D84F-7B37-2A4E963E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539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37DC-8DFD-2CDD-F393-E61A0606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1A83-F7B6-D49E-FCB6-01413BDFD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B331D4-83DA-13DC-0635-34DA2A422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73F3DF-A872-3F10-E603-D94EBF7DF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16019C-B07C-2932-247B-64F70B86B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A829AF-E23F-3527-FCBE-876C4ABB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27A985-3E50-757D-303E-025970A2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393702-5030-4217-79A3-F4DF9687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4074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7890-1145-25F7-0C8C-D06E317F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59FF9F-20D5-0E06-FEFA-EAD50830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263300-0DBC-B4C3-A829-69A76E2B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4533C4-6839-B60C-85C4-FB431D54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547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E859C1-E918-29D7-0306-A0AF4FF4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DE2125-8BF0-C43D-63EF-88450A56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59D722-2E04-002D-F885-D2AEB242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461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A414D-7E50-98F1-AE7B-F557BF4A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AC3404-5847-8D71-3162-624587CDB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099863-CB68-12D2-2645-AD2F87966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F0C187-2CA3-FBC1-A7D0-9927B593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D90AD5-7993-2DA4-DCDC-99697381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9852A-94D2-33ED-8691-B34062E2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118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EDC01-2A39-F77D-ACC9-0DA8EE44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BD609A-C8BF-A2B0-9C16-DBB563ED6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9FB860-9656-2806-D3DA-062B274AF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F67E83-9528-9968-C04B-310C9558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B190E0-0889-86DF-8A06-7820E6F1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099405-9D7A-FCD5-9368-2410B3B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87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EBCF6-608F-4B6D-74AB-C90B50E8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0FEC7E-C801-0AE0-54F7-5836A0FB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3F6FA7-25C6-C691-EEE0-8F8711F5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D3735-F171-7BAD-7840-544BB8E1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9F2205-9EEB-C5B3-9C6F-D022E5D6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445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C633C8-A588-7A7A-9E8F-F2C4823DC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AC7C11-6C21-241E-6FD1-F6AA1CF53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3C409C-FBA8-2364-B3BD-E06066F1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0E85E1-3747-B2EC-213F-E7EB4013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29D2A-6118-6503-C579-2FAE11E3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084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99A058-5B71-4380-198D-06FBD05F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835FB5-180F-5DBB-C299-B997B0DBB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882E2-CEDF-22FB-B832-214A3EB7E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FE3C5-8C00-A44E-BE71-D4E3B8DCAD0B}" type="datetimeFigureOut">
              <a:rPr lang="es-ES_tradnl" smtClean="0"/>
              <a:t>19/4/26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49881A-985B-1C6F-6BAC-8112EE24F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EAE7E2-2764-CB59-868D-96F6482FF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900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1B5E8A"/>
              </a:gs>
              <a:gs pos="50000">
                <a:srgbClr val="E8792B"/>
              </a:gs>
              <a:gs pos="100000">
                <a:srgbClr val="2E8B57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00" name="LogoMaster"/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69040" y="1371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7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A4A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4A5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A4A5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2650B7-E8E1-454D-555A-80475AD0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762000"/>
            <a:ext cx="1905000" cy="1905000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914400" y="32004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2800" b="1" spc="400" dirty="0">
                <a:solidFill>
                  <a:srgbClr val="FFFFFF"/>
                </a:solidFill>
                <a:latin typeface="Montserrat"/>
              </a:rPr>
              <a:t>GESTIÓN INTEGRAL DE INSTALACIONES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1828800" y="41148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800" spc="200" dirty="0">
                <a:solidFill>
                  <a:srgbClr val="E8792B"/>
                </a:solidFill>
                <a:latin typeface="Open Sans"/>
              </a:rPr>
              <a:t>Su socio en la gestión de sus instalaciones</a:t>
            </a:r>
          </a:p>
        </p:txBody>
      </p:sp>
      <p:sp>
        <p:nvSpPr>
          <p:cNvPr id="12" name="Line"/>
          <p:cNvSpPr/>
          <p:nvPr/>
        </p:nvSpPr>
        <p:spPr>
          <a:xfrm>
            <a:off x="4572000" y="4000500"/>
            <a:ext cx="3048000" cy="0"/>
          </a:xfrm>
          <a:prstGeom prst="line">
            <a:avLst/>
          </a:prstGeom>
          <a:ln w="19050">
            <a:solidFill>
              <a:srgbClr val="E8792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" name="BottomInfo"/>
          <p:cNvSpPr txBox="1"/>
          <p:nvPr/>
        </p:nvSpPr>
        <p:spPr>
          <a:xfrm>
            <a:off x="2743200" y="4800600"/>
            <a:ext cx="670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400" spc="150" dirty="0">
                <a:solidFill>
                  <a:srgbClr val="8899AA"/>
                </a:solidFill>
                <a:latin typeface="Open Sans"/>
              </a:rPr>
              <a:t>Presentación Corporativa</a:t>
            </a:r>
          </a:p>
        </p:txBody>
      </p:sp>
    </p:spTree>
    <p:extLst>
      <p:ext uri="{BB962C8B-B14F-4D97-AF65-F5344CB8AC3E}">
        <p14:creationId xmlns:p14="http://schemas.microsoft.com/office/powerpoint/2010/main" val="160379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pied Picture 21">
            <a:extLst>
              <a:ext uri="{FF2B5EF4-FFF2-40B4-BE49-F238E27FC236}">
                <a16:creationId xmlns:a16="http://schemas.microsoft.com/office/drawing/2014/main" id="{7912E50D-BF61-AE4F-8A2A-E6F02D54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432" y="4281825"/>
            <a:ext cx="3372787" cy="2211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CC0B16C-7E9C-3060-DD3B-06282DA0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Quiénes somos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BB7D7-0131-BBB1-987D-248915C7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600" b="1" dirty="0">
                <a:solidFill>
                  <a:srgbClr val="1B5E8A"/>
                </a:solidFill>
              </a:rPr>
              <a:t>GEINSTAL es una empresa familiar fundada en 1994</a:t>
            </a:r>
            <a:r>
              <a:rPr lang="es-ES" sz="1600" dirty="0">
                <a:solidFill>
                  <a:srgbClr val="3A4A5C"/>
                </a:solidFill>
              </a:rPr>
              <a:t>, con reconocido prestigio en el sector del mantenimiento y la ejecución de instalaciones electromecánicas.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3A4A5C"/>
                </a:solidFill>
              </a:rPr>
              <a:t>Nuestro equipo técnico cuenta con amplia experiencia en la ejecución de proyectos, la implantación de servicios de mantenimiento técnico y la gestión de operaciones para obtener el máximo rendimiento de las instalaciones de la manera más eficiente posible.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3A4A5C"/>
                </a:solidFill>
              </a:rPr>
              <a:t>Nuestro valor añadido reside en nuestra cultura, cuyos pilares son el </a:t>
            </a:r>
            <a:r>
              <a:rPr lang="es-ES" sz="1600" b="1" dirty="0">
                <a:solidFill>
                  <a:srgbClr val="1B5E8A"/>
                </a:solidFill>
              </a:rPr>
              <a:t>espíritu de servicio</a:t>
            </a:r>
            <a:r>
              <a:rPr lang="es-ES" sz="1600" dirty="0">
                <a:solidFill>
                  <a:srgbClr val="3A4A5C"/>
                </a:solidFill>
              </a:rPr>
              <a:t>, el </a:t>
            </a:r>
            <a:r>
              <a:rPr lang="es-ES" sz="1600" b="1" dirty="0">
                <a:solidFill>
                  <a:srgbClr val="1B5E8A"/>
                </a:solidFill>
              </a:rPr>
              <a:t>compromiso</a:t>
            </a:r>
            <a:r>
              <a:rPr lang="es-ES" sz="1600" dirty="0">
                <a:solidFill>
                  <a:srgbClr val="3A4A5C"/>
                </a:solidFill>
              </a:rPr>
              <a:t> con nuestros clientes, el desarrollo de las personas y la búsqueda de la </a:t>
            </a:r>
            <a:r>
              <a:rPr lang="es-ES" sz="1600" b="1" dirty="0">
                <a:solidFill>
                  <a:srgbClr val="1B5E8A"/>
                </a:solidFill>
              </a:rPr>
              <a:t>mejora continua</a:t>
            </a:r>
            <a:r>
              <a:rPr lang="es-ES" sz="1600" dirty="0">
                <a:solidFill>
                  <a:srgbClr val="3A4A5C"/>
                </a:solidFill>
              </a:rPr>
              <a:t>.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3A4A5C"/>
                </a:solidFill>
              </a:rPr>
              <a:t>Actualmente, GEINSTAL está inmersa en un plan estratégico con dos grandes objetivos: el desarrollo de servicios de alto valor añadido y el crecimiento en los mercados de referencia del sector.</a:t>
            </a:r>
          </a:p>
        </p:txBody>
      </p:sp>
      <p:sp>
        <p:nvSpPr>
          <p:cNvPr id="2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4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2A18-5753-77A4-2843-970049E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Nuestros servicios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838200" y="16891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s-ES" sz="1600" dirty="0">
                <a:solidFill>
                  <a:srgbClr val="3A4A5C"/>
                </a:solidFill>
              </a:rPr>
              <a:t>La excelencia es nuestro principal objetivo</a:t>
            </a:r>
          </a:p>
        </p:txBody>
      </p:sp>
      <p:sp>
        <p:nvSpPr>
          <p:cNvPr id="30" name="CardLeft"/>
          <p:cNvSpPr/>
          <p:nvPr/>
        </p:nvSpPr>
        <p:spPr>
          <a:xfrm>
            <a:off x="838200" y="2133600"/>
            <a:ext cx="4876800" cy="3810000"/>
          </a:xfrm>
          <a:prstGeom prst="roundRect">
            <a:avLst>
              <a:gd name="adj" fmla="val 3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s-ES" sz="2200" b="1" dirty="0">
                <a:solidFill>
                  <a:srgbClr val="1B5E8A"/>
                </a:solidFill>
              </a:rPr>
              <a:t>Mantenimiento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Ofrecemos servicios técnicos a través de metodologías de valor añadido para garantizar el óptimo funcionamiento de sus instalaciones según criterios de: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Confort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Eficiencia energética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Continuidad operativa</a:t>
            </a:r>
          </a:p>
        </p:txBody>
      </p:sp>
      <p:sp>
        <p:nvSpPr>
          <p:cNvPr id="31" name="CardRight"/>
          <p:cNvSpPr/>
          <p:nvPr/>
        </p:nvSpPr>
        <p:spPr>
          <a:xfrm>
            <a:off x="6019800" y="2133600"/>
            <a:ext cx="4876800" cy="3810000"/>
          </a:xfrm>
          <a:prstGeom prst="roundRect">
            <a:avLst>
              <a:gd name="adj" fmla="val 3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s-ES" sz="2200" b="1" dirty="0">
                <a:solidFill>
                  <a:srgbClr val="E8792B"/>
                </a:solidFill>
              </a:rPr>
              <a:t>Instalaciones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Empresa experta en la ejecución de cualquier tipo de instalación, tanto de infraestructura como de proceso: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Concepción y diseño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Ejecución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Puesta en marcha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Certificación</a:t>
            </a:r>
          </a:p>
        </p:txBody>
      </p:sp>
      <p:sp>
        <p:nvSpPr>
          <p:cNvPr id="32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3" name="Copied Picture 33">
            <a:extLst>
              <a:ext uri="{FF2B5EF4-FFF2-40B4-BE49-F238E27FC236}">
                <a16:creationId xmlns:a16="http://schemas.microsoft.com/office/drawing/2014/main" id="{A42AC315-E2DD-7FC1-96D9-7D4A955F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445000"/>
            <a:ext cx="4572000" cy="1397000"/>
          </a:xfrm>
          <a:prstGeom prst="rect">
            <a:avLst/>
          </a:prstGeom>
        </p:spPr>
      </p:pic>
      <p:pic>
        <p:nvPicPr>
          <p:cNvPr id="34" name="Copied Picture 34">
            <a:extLst>
              <a:ext uri="{FF2B5EF4-FFF2-40B4-BE49-F238E27FC236}">
                <a16:creationId xmlns:a16="http://schemas.microsoft.com/office/drawing/2014/main" id="{09A1754C-7A06-71A6-1353-5CFD6243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445000"/>
            <a:ext cx="4572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7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62335-45E6-E857-D3FD-A2EACD79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Nuestras especialidades</a:t>
            </a:r>
          </a:p>
        </p:txBody>
      </p:sp>
      <p:sp>
        <p:nvSpPr>
          <p:cNvPr id="50" name="Spec0"/>
          <p:cNvSpPr/>
          <p:nvPr/>
        </p:nvSpPr>
        <p:spPr>
          <a:xfrm>
            <a:off x="60960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B5E8A"/>
                </a:solidFill>
              </a:rPr>
              <a:t>Climatización, frío y calor</a:t>
            </a:r>
          </a:p>
        </p:txBody>
      </p:sp>
      <p:sp>
        <p:nvSpPr>
          <p:cNvPr id="51" name="Spec1"/>
          <p:cNvSpPr/>
          <p:nvPr/>
        </p:nvSpPr>
        <p:spPr>
          <a:xfrm>
            <a:off x="338328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B85A1A"/>
                </a:solidFill>
              </a:rPr>
              <a:t>Calefacción</a:t>
            </a:r>
          </a:p>
        </p:txBody>
      </p:sp>
      <p:sp>
        <p:nvSpPr>
          <p:cNvPr id="52" name="Spec2"/>
          <p:cNvSpPr/>
          <p:nvPr/>
        </p:nvSpPr>
        <p:spPr>
          <a:xfrm>
            <a:off x="615696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3C"/>
                </a:solidFill>
              </a:rPr>
              <a:t>Regulación y control</a:t>
            </a:r>
          </a:p>
        </p:txBody>
      </p:sp>
      <p:sp>
        <p:nvSpPr>
          <p:cNvPr id="53" name="Spec3"/>
          <p:cNvSpPr/>
          <p:nvPr/>
        </p:nvSpPr>
        <p:spPr>
          <a:xfrm>
            <a:off x="893064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9A"/>
                </a:solidFill>
              </a:rPr>
              <a:t>CPD (Centro de Datos)</a:t>
            </a:r>
          </a:p>
        </p:txBody>
      </p:sp>
      <p:sp>
        <p:nvSpPr>
          <p:cNvPr id="54" name="Spec4"/>
          <p:cNvSpPr/>
          <p:nvPr/>
        </p:nvSpPr>
        <p:spPr>
          <a:xfrm>
            <a:off x="60960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B5E8A"/>
                </a:solidFill>
              </a:rPr>
              <a:t>Electricidad</a:t>
            </a:r>
          </a:p>
        </p:txBody>
      </p:sp>
      <p:sp>
        <p:nvSpPr>
          <p:cNvPr id="55" name="Spec5"/>
          <p:cNvSpPr/>
          <p:nvPr/>
        </p:nvSpPr>
        <p:spPr>
          <a:xfrm>
            <a:off x="338328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B85A1A"/>
                </a:solidFill>
              </a:rPr>
              <a:t>Consultoría energética</a:t>
            </a:r>
          </a:p>
        </p:txBody>
      </p:sp>
      <p:sp>
        <p:nvSpPr>
          <p:cNvPr id="56" name="Spec6"/>
          <p:cNvSpPr/>
          <p:nvPr/>
        </p:nvSpPr>
        <p:spPr>
          <a:xfrm>
            <a:off x="615696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3C"/>
                </a:solidFill>
              </a:rPr>
              <a:t>Fontanería y saneamiento</a:t>
            </a:r>
          </a:p>
        </p:txBody>
      </p:sp>
      <p:sp>
        <p:nvSpPr>
          <p:cNvPr id="57" name="Spec7"/>
          <p:cNvSpPr/>
          <p:nvPr/>
        </p:nvSpPr>
        <p:spPr>
          <a:xfrm>
            <a:off x="893064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9A"/>
                </a:solidFill>
              </a:rPr>
              <a:t>Gas</a:t>
            </a:r>
          </a:p>
        </p:txBody>
      </p:sp>
      <p:sp>
        <p:nvSpPr>
          <p:cNvPr id="58" name="Spec8"/>
          <p:cNvSpPr/>
          <p:nvPr/>
        </p:nvSpPr>
        <p:spPr>
          <a:xfrm>
            <a:off x="60960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B5E8A"/>
                </a:solidFill>
              </a:rPr>
              <a:t>Protección contra incendios</a:t>
            </a:r>
          </a:p>
        </p:txBody>
      </p:sp>
      <p:sp>
        <p:nvSpPr>
          <p:cNvPr id="59" name="Spec9"/>
          <p:cNvSpPr/>
          <p:nvPr/>
        </p:nvSpPr>
        <p:spPr>
          <a:xfrm>
            <a:off x="338328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B85A1A"/>
                </a:solidFill>
              </a:rPr>
              <a:t>Energías renovables</a:t>
            </a:r>
          </a:p>
        </p:txBody>
      </p:sp>
      <p:sp>
        <p:nvSpPr>
          <p:cNvPr id="60" name="Spec10"/>
          <p:cNvSpPr/>
          <p:nvPr/>
        </p:nvSpPr>
        <p:spPr>
          <a:xfrm>
            <a:off x="615696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3C"/>
                </a:solidFill>
              </a:rPr>
              <a:t>Telecomunicaciones</a:t>
            </a:r>
          </a:p>
        </p:txBody>
      </p:sp>
      <p:sp>
        <p:nvSpPr>
          <p:cNvPr id="61" name="Spec11"/>
          <p:cNvSpPr/>
          <p:nvPr/>
        </p:nvSpPr>
        <p:spPr>
          <a:xfrm>
            <a:off x="893064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9A"/>
                </a:solidFill>
              </a:rPr>
              <a:t>Seguridad</a:t>
            </a:r>
          </a:p>
        </p:txBody>
      </p:sp>
      <p:sp>
        <p:nvSpPr>
          <p:cNvPr id="7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871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1BB91-B6FF-5A88-9AFA-C8A2F0FC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Sectores de actividad</a:t>
            </a:r>
          </a:p>
        </p:txBody>
      </p:sp>
      <p:sp>
        <p:nvSpPr>
          <p:cNvPr id="50" name="Sector0"/>
          <p:cNvSpPr/>
          <p:nvPr/>
        </p:nvSpPr>
        <p:spPr>
          <a:xfrm>
            <a:off x="60960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Sedes empresariales</a:t>
            </a:r>
          </a:p>
        </p:txBody>
      </p:sp>
      <p:sp>
        <p:nvSpPr>
          <p:cNvPr id="52" name="Sector1"/>
          <p:cNvSpPr/>
          <p:nvPr/>
        </p:nvSpPr>
        <p:spPr>
          <a:xfrm>
            <a:off x="338328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Edificios públicos y municipales</a:t>
            </a:r>
          </a:p>
        </p:txBody>
      </p:sp>
      <p:sp>
        <p:nvSpPr>
          <p:cNvPr id="54" name="Sector2"/>
          <p:cNvSpPr/>
          <p:nvPr/>
        </p:nvSpPr>
        <p:spPr>
          <a:xfrm>
            <a:off x="615696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Hospitales y centros médicos</a:t>
            </a:r>
          </a:p>
        </p:txBody>
      </p:sp>
      <p:sp>
        <p:nvSpPr>
          <p:cNvPr id="56" name="Sector3"/>
          <p:cNvSpPr/>
          <p:nvPr/>
        </p:nvSpPr>
        <p:spPr>
          <a:xfrm>
            <a:off x="893064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Universidades y centros formativos</a:t>
            </a:r>
          </a:p>
        </p:txBody>
      </p:sp>
      <p:sp>
        <p:nvSpPr>
          <p:cNvPr id="58" name="Sector4"/>
          <p:cNvSpPr/>
          <p:nvPr/>
        </p:nvSpPr>
        <p:spPr>
          <a:xfrm>
            <a:off x="60960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Industria</a:t>
            </a:r>
          </a:p>
        </p:txBody>
      </p:sp>
      <p:sp>
        <p:nvSpPr>
          <p:cNvPr id="60" name="Sector5"/>
          <p:cNvSpPr/>
          <p:nvPr/>
        </p:nvSpPr>
        <p:spPr>
          <a:xfrm>
            <a:off x="338328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Data center</a:t>
            </a:r>
          </a:p>
        </p:txBody>
      </p:sp>
      <p:sp>
        <p:nvSpPr>
          <p:cNvPr id="62" name="Sector6"/>
          <p:cNvSpPr/>
          <p:nvPr/>
        </p:nvSpPr>
        <p:spPr>
          <a:xfrm>
            <a:off x="615696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Hotel</a:t>
            </a:r>
          </a:p>
        </p:txBody>
      </p:sp>
      <p:sp>
        <p:nvSpPr>
          <p:cNvPr id="64" name="Sector7"/>
          <p:cNvSpPr/>
          <p:nvPr/>
        </p:nvSpPr>
        <p:spPr>
          <a:xfrm>
            <a:off x="893064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Residencias</a:t>
            </a:r>
          </a:p>
        </p:txBody>
      </p:sp>
      <p:sp>
        <p:nvSpPr>
          <p:cNvPr id="66" name="Sector8"/>
          <p:cNvSpPr/>
          <p:nvPr/>
        </p:nvSpPr>
        <p:spPr>
          <a:xfrm>
            <a:off x="60960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Museos y centros expositivos</a:t>
            </a:r>
          </a:p>
        </p:txBody>
      </p:sp>
      <p:sp>
        <p:nvSpPr>
          <p:cNvPr id="68" name="Sector9"/>
          <p:cNvSpPr/>
          <p:nvPr/>
        </p:nvSpPr>
        <p:spPr>
          <a:xfrm>
            <a:off x="338328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Centros comerciales</a:t>
            </a:r>
          </a:p>
        </p:txBody>
      </p:sp>
      <p:sp>
        <p:nvSpPr>
          <p:cNvPr id="70" name="Sector10"/>
          <p:cNvSpPr/>
          <p:nvPr/>
        </p:nvSpPr>
        <p:spPr>
          <a:xfrm>
            <a:off x="615696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Edificios históricos y singulares</a:t>
            </a:r>
          </a:p>
        </p:txBody>
      </p:sp>
      <p:sp>
        <p:nvSpPr>
          <p:cNvPr id="72" name="Sector11"/>
          <p:cNvSpPr/>
          <p:nvPr/>
        </p:nvSpPr>
        <p:spPr>
          <a:xfrm>
            <a:off x="893064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Centros tecnológicos y laboratorios</a:t>
            </a:r>
          </a:p>
        </p:txBody>
      </p:sp>
      <p:sp>
        <p:nvSpPr>
          <p:cNvPr id="80" name="SubSectores"/>
          <p:cNvSpPr txBox="1"/>
          <p:nvPr/>
        </p:nvSpPr>
        <p:spPr>
          <a:xfrm>
            <a:off x="838200" y="17145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s-ES" sz="1600" dirty="0">
                <a:solidFill>
                  <a:srgbClr val="3A4A5C"/>
                </a:solidFill>
              </a:rPr>
              <a:t>Somos expertos en múltiples sectores</a:t>
            </a:r>
          </a:p>
        </p:txBody>
      </p:sp>
      <p:sp>
        <p:nvSpPr>
          <p:cNvPr id="81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359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B37C7-8B30-A4DB-6896-8856CBFB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Proyectos destacados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D96EE4-B761-DD62-ECF7-BC6F1751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500" b="1" dirty="0">
                <a:solidFill>
                  <a:srgbClr val="1B5E8A"/>
                </a:solidFill>
              </a:rPr>
              <a:t>Sanidad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Hospital Universitari de Bellvitge · Hospital Vall d'Hebron · Hospital Germans Trias i Pujol · Hospital de la Santa Creu i Sant Pau · Consorci Hospitalari de Vic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8792B"/>
                </a:solidFill>
              </a:rPr>
              <a:t>Cultura y educación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CCCB · Monestir de Pedralbes · Universitat Internacional de Catalunya · U.A.B. · Tecnocampus · Fundación Gimbernat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2E8B57"/>
                </a:solidFill>
              </a:rPr>
              <a:t>Infraestructuras y servicios públicos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AENA T2 · ENAIRE Centro Control Tráfico Aéreo · Ayuntamiento de Barcelona · Mossos d'Esquadra – Sabadell · Fira de Barcelona · Mercabarna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3498DB"/>
                </a:solidFill>
              </a:rPr>
              <a:t>Sector privado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IDIADA · Mango · Alcampo · Paddock Sabadell · One Ocean Port Vell · Aprosa</a:t>
            </a:r>
          </a:p>
        </p:txBody>
      </p:sp>
      <p:sp>
        <p:nvSpPr>
          <p:cNvPr id="2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1" name="Copied Picture 21">
            <a:extLst>
              <a:ext uri="{FF2B5EF4-FFF2-40B4-BE49-F238E27FC236}">
                <a16:creationId xmlns:a16="http://schemas.microsoft.com/office/drawing/2014/main" id="{C49BD032-D06B-A43B-A8D1-A19A870D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215" y="4163518"/>
            <a:ext cx="3405971" cy="214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39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pied Picture 31">
            <a:extLst>
              <a:ext uri="{FF2B5EF4-FFF2-40B4-BE49-F238E27FC236}">
                <a16:creationId xmlns:a16="http://schemas.microsoft.com/office/drawing/2014/main" id="{8614CDC3-36E1-A699-3BDB-087C9BE4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5760"/>
            <a:ext cx="2413000" cy="1333500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838200" y="36576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3200" b="1" dirty="0">
                <a:solidFill>
                  <a:srgbClr val="FFFFFF"/>
                </a:solidFill>
              </a:rPr>
              <a:t>GEINSTAL en cifras</a:t>
            </a:r>
          </a:p>
        </p:txBody>
      </p:sp>
      <p:sp>
        <p:nvSpPr>
          <p:cNvPr id="20" name="KPI0"/>
          <p:cNvSpPr/>
          <p:nvPr/>
        </p:nvSpPr>
        <p:spPr>
          <a:xfrm>
            <a:off x="60960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E8792B"/>
                </a:solidFill>
              </a:rPr>
              <a:t>4.230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Instalaciones</a:t>
            </a:r>
          </a:p>
        </p:txBody>
      </p:sp>
      <p:sp>
        <p:nvSpPr>
          <p:cNvPr id="21" name="KPI1"/>
          <p:cNvSpPr/>
          <p:nvPr/>
        </p:nvSpPr>
        <p:spPr>
          <a:xfrm>
            <a:off x="332232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1B5E8A"/>
                </a:solidFill>
              </a:rPr>
              <a:t>623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Clientes</a:t>
            </a:r>
          </a:p>
        </p:txBody>
      </p:sp>
      <p:sp>
        <p:nvSpPr>
          <p:cNvPr id="22" name="KPI2"/>
          <p:cNvSpPr/>
          <p:nvPr/>
        </p:nvSpPr>
        <p:spPr>
          <a:xfrm>
            <a:off x="603504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2E8B57"/>
                </a:solidFill>
              </a:rPr>
              <a:t>305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Empleados</a:t>
            </a:r>
          </a:p>
        </p:txBody>
      </p:sp>
      <p:sp>
        <p:nvSpPr>
          <p:cNvPr id="23" name="KPI3"/>
          <p:cNvSpPr/>
          <p:nvPr/>
        </p:nvSpPr>
        <p:spPr>
          <a:xfrm>
            <a:off x="874776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3498DB"/>
                </a:solidFill>
              </a:rPr>
              <a:t>45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Equipo de ingeniería</a:t>
            </a:r>
          </a:p>
        </p:txBody>
      </p:sp>
      <p:sp>
        <p:nvSpPr>
          <p:cNvPr id="30" name="Sub"/>
          <p:cNvSpPr txBox="1"/>
          <p:nvPr/>
        </p:nvSpPr>
        <p:spPr>
          <a:xfrm>
            <a:off x="1828800" y="11430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600" dirty="0">
                <a:solidFill>
                  <a:srgbClr val="8899AA"/>
                </a:solidFill>
              </a:rPr>
              <a:t>Más de 30 años de experiencia avalan nuestro recorrido</a:t>
            </a:r>
          </a:p>
        </p:txBody>
      </p:sp>
    </p:spTree>
    <p:extLst>
      <p:ext uri="{BB962C8B-B14F-4D97-AF65-F5344CB8AC3E}">
        <p14:creationId xmlns:p14="http://schemas.microsoft.com/office/powerpoint/2010/main" val="35612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10C03-BD7A-835F-5D18-CA7E857B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Valores y certificaciones</a:t>
            </a:r>
          </a:p>
        </p:txBody>
      </p:sp>
      <p:sp>
        <p:nvSpPr>
          <p:cNvPr id="30" name="Valores"/>
          <p:cNvSpPr txBox="1"/>
          <p:nvPr/>
        </p:nvSpPr>
        <p:spPr>
          <a:xfrm>
            <a:off x="838200" y="1752600"/>
            <a:ext cx="5029200" cy="311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s-ES" sz="2000" b="1" dirty="0">
                <a:solidFill>
                  <a:srgbClr val="1B5E8A"/>
                </a:solidFill>
              </a:rPr>
              <a:t>Nuestra política empresarial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Confianza y respeto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Honestidad e integridad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Profesionalidad y eficacia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Responsabilidad social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Compromiso medioambiental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Mejora continua</a:t>
            </a:r>
          </a:p>
        </p:txBody>
      </p:sp>
      <p:sp>
        <p:nvSpPr>
          <p:cNvPr id="40" name="Cert0"/>
          <p:cNvSpPr/>
          <p:nvPr/>
        </p:nvSpPr>
        <p:spPr>
          <a:xfrm>
            <a:off x="6324600" y="1752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1B5E8A"/>
                </a:solidFill>
              </a:rPr>
              <a:t>ISO 9001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Gestión de la Calidad</a:t>
            </a:r>
          </a:p>
        </p:txBody>
      </p:sp>
      <p:sp>
        <p:nvSpPr>
          <p:cNvPr id="41" name="Cert1"/>
          <p:cNvSpPr/>
          <p:nvPr/>
        </p:nvSpPr>
        <p:spPr>
          <a:xfrm>
            <a:off x="6324600" y="2895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2E8B57"/>
                </a:solidFill>
              </a:rPr>
              <a:t>ISO 14001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Gestión Medioambiental</a:t>
            </a:r>
          </a:p>
        </p:txBody>
      </p:sp>
      <p:sp>
        <p:nvSpPr>
          <p:cNvPr id="42" name="Cert2"/>
          <p:cNvSpPr/>
          <p:nvPr/>
        </p:nvSpPr>
        <p:spPr>
          <a:xfrm>
            <a:off x="6324600" y="4038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E8792B"/>
                </a:solidFill>
              </a:rPr>
              <a:t>ISO 50001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Gestión Energética</a:t>
            </a:r>
          </a:p>
        </p:txBody>
      </p:sp>
      <p:sp>
        <p:nvSpPr>
          <p:cNvPr id="43" name="Cert3"/>
          <p:cNvSpPr/>
          <p:nvPr/>
        </p:nvSpPr>
        <p:spPr>
          <a:xfrm>
            <a:off x="6324600" y="5181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3498DB"/>
                </a:solidFill>
              </a:rPr>
              <a:t>OHSAS 18001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Seguridad y Salud</a:t>
            </a:r>
          </a:p>
        </p:txBody>
      </p:sp>
      <p:sp>
        <p:nvSpPr>
          <p:cNvPr id="5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51" name="Copied Picture 51">
            <a:extLst>
              <a:ext uri="{FF2B5EF4-FFF2-40B4-BE49-F238E27FC236}">
                <a16:creationId xmlns:a16="http://schemas.microsoft.com/office/drawing/2014/main" id="{4CCEC74D-D0C2-29AD-F434-18580145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53000"/>
            <a:ext cx="50292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92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3810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3600" b="1" dirty="0">
                <a:solidFill>
                  <a:srgbClr val="FFFFFF"/>
                </a:solidFill>
              </a:rPr>
              <a:t>Contacto</a:t>
            </a:r>
          </a:p>
        </p:txBody>
      </p:sp>
      <p:sp>
        <p:nvSpPr>
          <p:cNvPr id="11" name="Line"/>
          <p:cNvSpPr/>
          <p:nvPr/>
        </p:nvSpPr>
        <p:spPr>
          <a:xfrm>
            <a:off x="4191000" y="1219200"/>
            <a:ext cx="3810000" cy="0"/>
          </a:xfrm>
          <a:prstGeom prst="line">
            <a:avLst/>
          </a:prstGeom>
          <a:ln w="19050">
            <a:solidFill>
              <a:srgbClr val="E8792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ContactInfo"/>
          <p:cNvSpPr txBox="1"/>
          <p:nvPr/>
        </p:nvSpPr>
        <p:spPr>
          <a:xfrm>
            <a:off x="609600" y="1524000"/>
            <a:ext cx="53340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s-ES" sz="1800" b="1" dirty="0">
                <a:solidFill>
                  <a:srgbClr val="E8792B"/>
                </a:solidFill>
              </a:rPr>
              <a:t>Edificio CUBIC Sant Cugat</a:t>
            </a:r>
          </a:p>
          <a:p>
            <a:pPr algn="l">
              <a:buNone/>
            </a:pPr>
            <a:r>
              <a:rPr lang="es-ES" sz="1600" dirty="0">
                <a:solidFill>
                  <a:srgbClr val="C0CCD8"/>
                </a:solidFill>
              </a:rPr>
              <a:t>Av. Alcalde Barnils, 72 · 1ª Planta</a:t>
            </a:r>
          </a:p>
          <a:p>
            <a:pPr algn="l">
              <a:buNone/>
            </a:pPr>
            <a:r>
              <a:rPr lang="es-ES" sz="1600" dirty="0">
                <a:solidFill>
                  <a:srgbClr val="C0CCD8"/>
                </a:solidFill>
              </a:rPr>
              <a:t>Parc Empresarial Can Sant Joan</a:t>
            </a:r>
          </a:p>
          <a:p>
            <a:pPr algn="l">
              <a:buNone/>
            </a:pPr>
            <a:r>
              <a:rPr lang="es-ES" sz="1600" dirty="0">
                <a:solidFill>
                  <a:srgbClr val="C0CCD8"/>
                </a:solidFill>
              </a:rPr>
              <a:t>08174 – Sant Cugat del Vallès, Barcelona</a:t>
            </a:r>
          </a:p>
          <a:p>
            <a:pPr algn="l">
              <a:buNone/>
            </a:pPr>
            <a:r>
              <a:rPr lang="es-ES" sz="2000" b="1" dirty="0">
                <a:solidFill>
                  <a:srgbClr val="FFFFFF"/>
                </a:solidFill>
              </a:rPr>
              <a:t>+34 93 454 15 00</a:t>
            </a:r>
          </a:p>
          <a:p>
            <a:pPr algn="l">
              <a:buNone/>
            </a:pPr>
            <a:r>
              <a:rPr lang="es-ES" sz="1600" dirty="0">
                <a:solidFill>
                  <a:srgbClr val="E8792B"/>
                </a:solidFill>
              </a:rPr>
              <a:t>geinstal@geinstal.com</a:t>
            </a:r>
          </a:p>
          <a:p>
            <a:pPr algn="l">
              <a:buNone/>
            </a:pPr>
            <a:r>
              <a:rPr lang="es-ES" sz="1600" dirty="0">
                <a:solidFill>
                  <a:srgbClr val="8899AA"/>
                </a:solidFill>
              </a:rPr>
              <a:t>www.geinstal.com</a:t>
            </a:r>
          </a:p>
          <a:p>
            <a:pPr algn="l">
              <a:buNone/>
            </a:pPr>
            <a:r>
              <a:rPr lang="es-ES" sz="1600" dirty="0">
                <a:solidFill>
                  <a:srgbClr val="8899AA"/>
                </a:solidFill>
              </a:rPr>
              <a:t>LinkedIn: geinstal-s-l-</a:t>
            </a:r>
          </a:p>
        </p:txBody>
      </p:sp>
      <p:sp>
        <p:nvSpPr>
          <p:cNvPr id="25" name="Tagline"/>
          <p:cNvSpPr txBox="1"/>
          <p:nvPr/>
        </p:nvSpPr>
        <p:spPr>
          <a:xfrm>
            <a:off x="609600" y="5943600"/>
            <a:ext cx="11125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400" i="1" dirty="0">
                <a:solidFill>
                  <a:srgbClr val="8899AA"/>
                </a:solidFill>
              </a:rPr>
              <a:t>Su socio en la gestión de sus instalaciones</a:t>
            </a:r>
          </a:p>
        </p:txBody>
      </p:sp>
      <p:pic>
        <p:nvPicPr>
          <p:cNvPr id="26" name="Copied Picture 26">
            <a:extLst>
              <a:ext uri="{FF2B5EF4-FFF2-40B4-BE49-F238E27FC236}">
                <a16:creationId xmlns:a16="http://schemas.microsoft.com/office/drawing/2014/main" id="{2EF28375-02A3-4981-8AE2-C5F5C4D9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524000"/>
            <a:ext cx="5486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178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6361337070]">
  <a:themeElements>
    <a:clrScheme name="Office">
      <a:dk1>
        <a:srgbClr val="1A2744"/>
      </a:dk1>
      <a:lt1>
        <a:srgbClr val="FFFFFF"/>
      </a:lt1>
      <a:dk2>
        <a:srgbClr val="0E2841"/>
      </a:dk2>
      <a:lt2>
        <a:srgbClr val="F0F3F7"/>
      </a:lt2>
      <a:accent1>
        <a:srgbClr val="1B5E8A"/>
      </a:accent1>
      <a:accent2>
        <a:srgbClr val="E8792B"/>
      </a:accent2>
      <a:accent3>
        <a:srgbClr val="2E8B57"/>
      </a:accent3>
      <a:accent4>
        <a:srgbClr val="3498DB"/>
      </a:accent4>
      <a:accent5>
        <a:srgbClr val="8E44AD"/>
      </a:accent5>
      <a:accent6>
        <a:srgbClr val="27AE60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647588-0552-654A-8E22-9884037E48A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dd45cc7-3521-4489-a484-5c99305430a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499</Words>
  <Application>Microsoft Macintosh PowerPoint</Application>
  <PresentationFormat>Panorámica</PresentationFormat>
  <Paragraphs>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Montserrat</vt:lpstr>
      <vt:lpstr>Open Sans</vt:lpstr>
      <vt:lpstr>Tema de Office [1776361337070]</vt:lpstr>
      <vt:lpstr>Presentación de PowerPoint</vt:lpstr>
      <vt:lpstr>Quiénes somos</vt:lpstr>
      <vt:lpstr>Nuestros servicios</vt:lpstr>
      <vt:lpstr>Nuestras especialidades</vt:lpstr>
      <vt:lpstr>Sectores de actividad</vt:lpstr>
      <vt:lpstr>Proyectos destacados</vt:lpstr>
      <vt:lpstr>Presentación de PowerPoint</vt:lpstr>
      <vt:lpstr>Valores y certificaciones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Sevilla Guerra</dc:creator>
  <cp:lastModifiedBy>Daniel Sevilla Guerra</cp:lastModifiedBy>
  <cp:revision>7</cp:revision>
  <dcterms:created xsi:type="dcterms:W3CDTF">2026-04-16T17:17:23Z</dcterms:created>
  <dcterms:modified xsi:type="dcterms:W3CDTF">2026-04-19T08:02:33Z</dcterms:modified>
</cp:coreProperties>
</file>